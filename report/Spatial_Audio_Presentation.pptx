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Spatial Audio &amp; High-Fidelity Streaming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Evaluation of Opus vs. AAC vs. MP3 for Immersive 3D Audio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2102571 — Multimedia Communication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7132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2. Methodology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3. Codec Comparison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4. Spectral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5. Spatial Audio Player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6. ABX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7. Stress 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8. Discussion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9. Conclusion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2286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10 min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22960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⏱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Why Spatial Audio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85%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of VR presence comes from audio spatial cues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4114800" cy="20116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50%+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120640" y="2011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of audio bandwidth wasted without perceptual coding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0" y="1097280"/>
            <a:ext cx="4114800" cy="20116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&lt;100ms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692640" y="2011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latency budget for real-time spatial rendering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5486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298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Compare AAC, Opus, MP3 across 24-256 kbps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73152" cy="5486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298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Implement HRTF-based spatial audio player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73152" cy="5486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1298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Find transparency point via ABX 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1298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Evaluate network resilience of spatial channels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2801600" cy="3657600"/>
          </a:xfrm>
          <a:prstGeom prst="rect">
            <a:avLst/>
          </a:prstGeom>
          <a:solidFill>
            <a:srgbClr val="F8F9FA"/>
          </a:solidFill>
          <a:ln w="254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56032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SYSTEM ARCHITECTURE DIAGRAM]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Phase 2: Codec Analysis → Phase 3: Spatial Player → Phase 4: ABX Test → Phase 5: Stress Test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Codec Comparison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114800" cy="3657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MP3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Legacy, 32kHz psychoacoustic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12080" y="1097280"/>
            <a:ext cx="411480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AAC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Modern, SBR + PS 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92640" y="1097280"/>
            <a:ext cx="4114800" cy="3657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Opus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2980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Low-latency, SILK + CELT hybrid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Bitrates: 24, 48, 64, 96, 128, 160, 192, 256 kbps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Rate-Distortion: Objective Quality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280160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RD CURVE PLOT FROM PHASE 2]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4572000"/>
            <a:ext cx="11887200" cy="10972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48006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Key Finding: Opus reaches transparency at ~64 kbps vs AAC at ~96 kbps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Spectral Masking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280160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SPECTROGRAM COMPARISON FROM PHASE 2]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4572000"/>
            <a:ext cx="11887200" cy="10972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48006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High-frequency content above 16kHz discarded by all codecs at ≤128 kbps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3D Spatial Audio Player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2801600" cy="32004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SCREENSHOT OF PHASE 3 WEB PLAYER]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HRTF Rendering · 8+ Sources · Real-time Codec Toggle · Stress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HRTF Spatial Rendering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PannerNode with HRTF Configuration: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Uses Head-Related Transfer Functions (HRTF) to spatialize audio sources in 3D space. Inverse distance model attenuates sound based on proximity to listener. Real-time processing at Web Audio API sample rates enables low-latency spatial rendering.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0"/>
            <a:ext cx="6217920" cy="4114800"/>
          </a:xfrm>
          <a:prstGeom prst="rect">
            <a:avLst/>
          </a:prstGeom>
          <a:solidFill>
            <a:srgbClr val="F8F9FA"/>
          </a:solidFill>
          <a:ln w="25400">
            <a:solidFill>
              <a:srgbClr val="5F63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30175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3D SCENE SCREENSHOT]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Subjective Evaluation: ABX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64008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0972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Method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0" y="1097280"/>
            <a:ext cx="6217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097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Double-blind ABX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544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1554480"/>
            <a:ext cx="6217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5+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011680"/>
            <a:ext cx="64008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0116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Codecs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2011680"/>
            <a:ext cx="6217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MP3, AAC, Opus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46888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468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Bitrates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468880"/>
            <a:ext cx="6217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64, 96, 128, 192 kbps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2926080"/>
            <a:ext cx="64008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926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Trials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926080"/>
            <a:ext cx="6217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12 per participant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12801600" cy="2468880"/>
          </a:xfrm>
          <a:prstGeom prst="rect">
            <a:avLst/>
          </a:prstGeom>
          <a:solidFill>
            <a:srgbClr val="F8F9FA"/>
          </a:solidFill>
          <a:ln w="25400">
            <a:solidFill>
              <a:srgbClr val="5F63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6344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ABX TEST INTERFACE SCREENSHOT]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ABX Results: Transparency 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280160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ABX ACCURACY PLOT FROM PHASE 4]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1188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Summary: Transparency points vary by codec and bitrate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Network Stress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1148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Packet Loss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0-30%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41148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636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Jitter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6636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0-500ms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0" y="1371600"/>
            <a:ext cx="411480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Modes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8116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Mono / Stereo / Spatial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Evaluates codec resilience under adverse network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Network Resilience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280160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5F63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280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[INSERT ODG VS PACKET LOSS PLOT FROM PHASE 5]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4572000"/>
            <a:ext cx="11887200" cy="10972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48006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Spatial audio degrades 2-3x faster than mono under packet loss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solidFill>
            <a:srgbClr val="F8F9FA"/>
          </a:solidFill>
          <a:ln w="381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Psychoacoustics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Temporal masking saves bits but spatial cues suffer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4114800" cy="2743200"/>
          </a:xfrm>
          <a:prstGeom prst="rect">
            <a:avLst/>
          </a:prstGeom>
          <a:solidFill>
            <a:srgbClr val="F8F9FA"/>
          </a:solidFill>
          <a:ln w="381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Latency vs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20116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Opus optimal for real-time spatial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0" y="1097280"/>
            <a:ext cx="4114800" cy="2743200"/>
          </a:xfrm>
          <a:prstGeom prst="rect">
            <a:avLst/>
          </a:prstGeom>
          <a:solidFill>
            <a:srgbClr val="F8F9FA"/>
          </a:solidFill>
          <a:ln w="38100">
            <a:solidFill>
              <a:srgbClr val="FBBC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C05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Immersion Loss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0" y="20116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HRTF distortion most critical above 8kHz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16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• Opus provides best quality-latency balance for spatial audio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316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• Transparency at 64-96 kbps makes mobile 5G streaming feasible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316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• Spatial channels require 2x bitrate headroom vs mono for network resilience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316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Object-Based Audio (MPEG-H)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Dynamic object metadata for adaptive rendering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316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Personalized HRTF from Ear Scans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Custom spatial response profiles per listener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316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Neural Audio Codecs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1280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SoundStream, EnCodec, and future learned models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60000"/>
                  </a:srgbClr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2102571 — Multimedia Communication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Product Sans" pitchFamily="34" charset="0"/>
                <a:ea typeface="Product Sans" pitchFamily="34" charset="-122"/>
                <a:cs typeface="Product Sans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2026-04-11T13:09:32Z</dcterms:created>
  <dcterms:modified xsi:type="dcterms:W3CDTF">2026-04-11T13:09:32Z</dcterms:modified>
</cp:coreProperties>
</file>