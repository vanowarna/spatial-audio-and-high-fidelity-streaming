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83777" autoAdjust="0"/>
  </p:normalViewPr>
  <p:slideViewPr>
    <p:cSldViewPr snapToGrid="0" snapToObjects="1">
      <p:cViewPr varScale="1">
        <p:scale>
          <a:sx n="93" d="100"/>
          <a:sy n="93" d="100"/>
        </p:scale>
        <p:origin x="136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3362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are presenting Project 4: Spatial Audio and High-Fidelity Streaming. We compare three perceptual codecs - MP3, AAC and Opus - for low-latency binaural delivery and demonstrate a working spatial audio web player. I'll keep us to five minutes. [10 seconds]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Modern streaming spends most of its budget on video. Audio gets the leftover. That's a problem for spatial audio because the cues that tell our brain where a sound is coming from - the inter-aural time and level differences - sit precisely in the high-frequency and transient detail that aggressive compression discards first. So our central question is simple: which codec converts the smallest bitrate into the most directional clarity? [35 seconds]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organised the project around four concrete objectives. First, compare MP3, AAC and Opus across a wide bitrate ladder. Second, find each codec's transparency point - the bitrate at which a listener can no longer tell the compressed signal from the original. Third, build a working spatial audio player on the open Web Audio API and validate the binaural cues it produces. Fourth, stress the network - packet loss and jitter - to find when spatial immersion breaks. [25 seconds]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pipeline is straightforward. FFmpeg with libfdk-aac, libmp3lame and libopus produces the encoded fixtures. We compute SNR and a PESQ-derived ODG for objective quality. We render binaural audio in the browser through the Web Audio API's HRTF panner. And we simulate packet loss and jitter directly in the audio graph. Subjective evaluation is a forced-choice ABX protocol with 75 trials per participant. Stress testing compares mono, stereo and binaural HRTF under matched bitrates. [40 seconds]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rate-distortion curves split the ranking. By raw signal-to-noise ratio, Opus dominates. But SNR understates AAC because AAC deliberately puts its quantisation noise where perception masks it. When we move to a perceptually weighted ODG, the picture clarifies: Opus reaches transparency near 48 kbps in pilot listening; MP3 and AAC need closer to 64. Combined with Opus's roughly 20-millisecond algorithmic delay, this makes Opus the obvious choice for real-time spatial audio. [40 seconds]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pilot ABX results align with the objective metrics. Opus reaches near-chance discrimination - our operational definition of transparency - at around 48 kilobits per second. MP3 and AAC need about 64. The MOS approximations cluster between 4.3 and 4.5 at threshold, all comfortably above the acceptable quality line of 3.5. These numbers are pilot-scale; the protocol, web interface and analysis notebook are all deployed - the full participant study is the next step. [35 seconds]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Network impairments hit spatial audio harder than they hit mono or stereo. Mono tolerates 20% packet loss before quality collapses. Stereo holds out to about 15. Binaural HRTF breaks down by 10. The reason is mechanical: HRTF rendering depends on phase-coherent delivery of both channels. A single late or dropped packet disrupts the inter-aural cues and temporarily collapses the spatial scene. This is exactly the failure mode we need to engineer against. [30 seconds]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live demonstration. I'll open the Spatial Audio Lab in the browser. First I'll add a source and drag it through the listener's space - notice how the perceived position changes smoothly because the panner uses HRTF. Next I'll switch codec mid-playback - Original to MP3 to AAC to Opus - so you can hear the differences in real time without losing position. Finally I'll push the loss slider up - you'll hear the spatial scene start to collapse well before the audio itself sounds 'broken'. That's the breakdown point we measured. [75 seconds]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wrap up. Opus is the codec to deploy for real-time spatial audio - it gives the best ratio of quality to bits and the lowest delay. Spatial streams are inherently more fragile than stereo, so production systems must engineer against jitter and burst loss. On 5G, bandwidth is no longer the bottleneck; coherence is. Future work: object-based audio with MPEG-H, personalised HRTFs, Opus multistream for ambisonics, neural codecs, and a real network evaluation through WebRTC. [25 seconds]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We have time for questions. The full report and live player are linked above. [5 seconds]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07-May-26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07-May-26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07-May-26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07-May-26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07-May-26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07-May-26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07-May-26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07-May-26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Rounded Rectangle 1"/>
          <p:cNvSpPr/>
          <p:nvPr/>
        </p:nvSpPr>
        <p:spPr>
          <a:xfrm>
            <a:off x="1188720" y="1280160"/>
            <a:ext cx="9784080" cy="429768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554480" y="1645920"/>
            <a:ext cx="365760" cy="365760"/>
          </a:xfrm>
          <a:prstGeom prst="ellipse">
            <a:avLst/>
          </a:prstGeom>
          <a:solidFill>
            <a:srgbClr val="4285F4"/>
          </a:solidFill>
          <a:ln>
            <a:noFill/>
          </a:ln>
          <a:effectLst>
            <a:outerShdw blurRad="25000" dist="6000" dir="2700000" rotWithShape="0">
              <a:srgbClr val="4285F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1645920"/>
            <a:ext cx="365760" cy="36576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468880" y="1645920"/>
            <a:ext cx="365760" cy="365760"/>
          </a:xfrm>
          <a:prstGeom prst="ellipse">
            <a:avLst/>
          </a:prstGeom>
          <a:solidFill>
            <a:srgbClr val="FBBC04"/>
          </a:solidFill>
          <a:ln>
            <a:noFill/>
          </a:ln>
          <a:effectLst>
            <a:outerShdw blurRad="25000" dist="6000" dir="2700000" rotWithShape="0">
              <a:srgbClr val="FBBC0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926080" y="1645920"/>
            <a:ext cx="365760" cy="365760"/>
          </a:xfrm>
          <a:prstGeom prst="ellipse">
            <a:avLst/>
          </a:prstGeom>
          <a:solidFill>
            <a:srgbClr val="34A853"/>
          </a:solidFill>
          <a:ln>
            <a:noFill/>
          </a:ln>
          <a:effectLst>
            <a:outerShdw blurRad="25000" dist="6000" dir="2700000" rotWithShape="0">
              <a:srgbClr val="34A853">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54480" y="2194560"/>
            <a:ext cx="9144000" cy="365760"/>
          </a:xfrm>
          <a:prstGeom prst="rect">
            <a:avLst/>
          </a:prstGeom>
          <a:noFill/>
        </p:spPr>
        <p:txBody>
          <a:bodyPr wrap="square" lIns="0" tIns="0" rIns="0" bIns="0" anchor="t">
            <a:spAutoFit/>
          </a:bodyPr>
          <a:lstStyle/>
          <a:p>
            <a:pPr algn="l">
              <a:spcAft>
                <a:spcPts val="200"/>
              </a:spcAft>
            </a:pPr>
            <a:r>
              <a:rPr sz="1200" b="1" i="0">
                <a:solidFill>
                  <a:srgbClr val="4285F4"/>
                </a:solidFill>
                <a:latin typeface="Google Sans"/>
              </a:rPr>
              <a:t>PROJECT 4 · 2102571 MULTIMEDIA COMMUNICATION</a:t>
            </a:r>
          </a:p>
        </p:txBody>
      </p:sp>
      <p:sp>
        <p:nvSpPr>
          <p:cNvPr id="8" name="TextBox 7"/>
          <p:cNvSpPr txBox="1"/>
          <p:nvPr/>
        </p:nvSpPr>
        <p:spPr>
          <a:xfrm>
            <a:off x="1554480" y="2606040"/>
            <a:ext cx="9144000" cy="822960"/>
          </a:xfrm>
          <a:prstGeom prst="rect">
            <a:avLst/>
          </a:prstGeom>
          <a:noFill/>
        </p:spPr>
        <p:txBody>
          <a:bodyPr wrap="square" lIns="0" tIns="0" rIns="0" bIns="0" anchor="t">
            <a:spAutoFit/>
          </a:bodyPr>
          <a:lstStyle/>
          <a:p>
            <a:pPr algn="l">
              <a:spcAft>
                <a:spcPts val="200"/>
              </a:spcAft>
            </a:pPr>
            <a:r>
              <a:rPr sz="4400" b="1" i="0">
                <a:solidFill>
                  <a:srgbClr val="1F2433"/>
                </a:solidFill>
                <a:latin typeface="Google Sans"/>
              </a:rPr>
              <a:t>Spatial Audio &amp;</a:t>
            </a:r>
          </a:p>
        </p:txBody>
      </p:sp>
      <p:sp>
        <p:nvSpPr>
          <p:cNvPr id="9" name="TextBox 8"/>
          <p:cNvSpPr txBox="1"/>
          <p:nvPr/>
        </p:nvSpPr>
        <p:spPr>
          <a:xfrm>
            <a:off x="1554480" y="3383280"/>
            <a:ext cx="10058400" cy="822960"/>
          </a:xfrm>
          <a:prstGeom prst="rect">
            <a:avLst/>
          </a:prstGeom>
          <a:noFill/>
        </p:spPr>
        <p:txBody>
          <a:bodyPr wrap="square" lIns="0" tIns="0" rIns="0" bIns="0" anchor="t">
            <a:spAutoFit/>
          </a:bodyPr>
          <a:lstStyle/>
          <a:p>
            <a:pPr algn="l">
              <a:spcAft>
                <a:spcPts val="200"/>
              </a:spcAft>
            </a:pPr>
            <a:r>
              <a:rPr sz="4400" b="1" i="0">
                <a:solidFill>
                  <a:srgbClr val="1F2433"/>
                </a:solidFill>
                <a:latin typeface="Google Sans"/>
              </a:rPr>
              <a:t>High-Fidelity Streaming</a:t>
            </a:r>
          </a:p>
        </p:txBody>
      </p:sp>
      <p:sp>
        <p:nvSpPr>
          <p:cNvPr id="10" name="TextBox 9"/>
          <p:cNvSpPr txBox="1"/>
          <p:nvPr/>
        </p:nvSpPr>
        <p:spPr>
          <a:xfrm>
            <a:off x="1554480" y="4297680"/>
            <a:ext cx="9144000" cy="548640"/>
          </a:xfrm>
          <a:prstGeom prst="rect">
            <a:avLst/>
          </a:prstGeom>
          <a:noFill/>
        </p:spPr>
        <p:txBody>
          <a:bodyPr wrap="square" lIns="0" tIns="0" rIns="0" bIns="0" anchor="t">
            <a:spAutoFit/>
          </a:bodyPr>
          <a:lstStyle/>
          <a:p>
            <a:pPr algn="l">
              <a:spcAft>
                <a:spcPts val="200"/>
              </a:spcAft>
            </a:pPr>
            <a:r>
              <a:rPr sz="1400" b="0" i="1">
                <a:solidFill>
                  <a:srgbClr val="525B6E"/>
                </a:solidFill>
                <a:latin typeface="Roboto"/>
              </a:rPr>
              <a:t>Evaluating Opus, AAC and MP3 for low-latency binaural audio over constrained networks</a:t>
            </a:r>
          </a:p>
        </p:txBody>
      </p:sp>
      <p:sp>
        <p:nvSpPr>
          <p:cNvPr id="11" name="TextBox 10"/>
          <p:cNvSpPr txBox="1"/>
          <p:nvPr/>
        </p:nvSpPr>
        <p:spPr>
          <a:xfrm>
            <a:off x="1554480" y="4937760"/>
            <a:ext cx="9144000" cy="184666"/>
          </a:xfrm>
          <a:prstGeom prst="rect">
            <a:avLst/>
          </a:prstGeom>
          <a:noFill/>
        </p:spPr>
        <p:txBody>
          <a:bodyPr wrap="square" lIns="0" tIns="0" rIns="0" bIns="0" anchor="t">
            <a:spAutoFit/>
          </a:bodyPr>
          <a:lstStyle/>
          <a:p>
            <a:pPr algn="l">
              <a:spcAft>
                <a:spcPts val="200"/>
              </a:spcAft>
            </a:pPr>
            <a:r>
              <a:rPr sz="1200" b="0" i="0" dirty="0">
                <a:solidFill>
                  <a:srgbClr val="525B6E"/>
                </a:solidFill>
                <a:latin typeface="Google Sans" pitchFamily="2" charset="0"/>
                <a:ea typeface="Google Sans" pitchFamily="2" charset="0"/>
                <a:cs typeface="Google Sans" pitchFamily="2" charset="0"/>
              </a:rPr>
              <a:t>Yuwadee Tongkong  ·  Vanodhya Warnasooriya  ·  </a:t>
            </a:r>
            <a:r>
              <a:rPr sz="1200" b="0" i="0" dirty="0" err="1">
                <a:solidFill>
                  <a:srgbClr val="525B6E"/>
                </a:solidFill>
                <a:latin typeface="Google Sans" pitchFamily="2" charset="0"/>
                <a:ea typeface="Google Sans" pitchFamily="2" charset="0"/>
                <a:cs typeface="Google Sans" pitchFamily="2" charset="0"/>
              </a:rPr>
              <a:t>Chanakan</a:t>
            </a:r>
            <a:r>
              <a:rPr sz="1200" b="0" i="0" dirty="0">
                <a:solidFill>
                  <a:srgbClr val="525B6E"/>
                </a:solidFill>
                <a:latin typeface="Google Sans" pitchFamily="2" charset="0"/>
                <a:ea typeface="Google Sans" pitchFamily="2" charset="0"/>
                <a:cs typeface="Google Sans" pitchFamily="2" charset="0"/>
              </a:rPr>
              <a:t> Hambleton</a:t>
            </a:r>
          </a:p>
        </p:txBody>
      </p:sp>
      <p:sp>
        <p:nvSpPr>
          <p:cNvPr id="12" name="TextBox 11"/>
          <p:cNvSpPr txBox="1"/>
          <p:nvPr/>
        </p:nvSpPr>
        <p:spPr>
          <a:xfrm>
            <a:off x="1554480" y="5257800"/>
            <a:ext cx="9144000" cy="36576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Department of Electrical Engineering · Chulalongkorn University · May 2026</a:t>
            </a:r>
          </a:p>
        </p:txBody>
      </p:sp>
      <p:sp>
        <p:nvSpPr>
          <p:cNvPr id="13" name="TextBox 12"/>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14" name="TextBox 13"/>
          <p:cNvSpPr txBox="1"/>
          <p:nvPr/>
        </p:nvSpPr>
        <p:spPr>
          <a:xfrm>
            <a:off x="10561320" y="6620256"/>
            <a:ext cx="1554480" cy="274320"/>
          </a:xfrm>
          <a:prstGeom prst="rect">
            <a:avLst/>
          </a:prstGeom>
          <a:noFill/>
        </p:spPr>
        <p:txBody>
          <a:bodyPr wrap="square" lIns="0" tIns="0" rIns="0" bIns="0" anchor="t">
            <a:spAutoFit/>
          </a:bodyPr>
          <a:lstStyle/>
          <a:p>
            <a:pPr algn="r">
              <a:spcAft>
                <a:spcPts val="200"/>
              </a:spcAft>
            </a:pPr>
            <a:r>
              <a:rPr sz="1000" b="0" i="0" dirty="0">
                <a:solidFill>
                  <a:srgbClr val="8C96A8"/>
                </a:solidFill>
                <a:latin typeface="Roboto"/>
              </a:rPr>
              <a:t>1 /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640080"/>
          </a:xfrm>
          <a:prstGeom prst="rect">
            <a:avLst/>
          </a:prstGeom>
          <a:noFill/>
        </p:spPr>
        <p:txBody>
          <a:bodyPr wrap="square" lIns="0" tIns="0" rIns="0" bIns="0" anchor="t">
            <a:spAutoFit/>
          </a:bodyPr>
          <a:lstStyle/>
          <a:p>
            <a:pPr algn="l">
              <a:spcAft>
                <a:spcPts val="200"/>
              </a:spcAft>
            </a:pPr>
            <a:r>
              <a:rPr sz="3200" b="1" i="0">
                <a:solidFill>
                  <a:srgbClr val="1F2433"/>
                </a:solidFill>
                <a:latin typeface="Google Sans"/>
              </a:rPr>
              <a:t>Why Spatial Audio?</a:t>
            </a:r>
          </a:p>
        </p:txBody>
      </p:sp>
      <p:sp>
        <p:nvSpPr>
          <p:cNvPr id="3" name="TextBox 2"/>
          <p:cNvSpPr txBox="1"/>
          <p:nvPr/>
        </p:nvSpPr>
        <p:spPr>
          <a:xfrm>
            <a:off x="548640" y="960120"/>
            <a:ext cx="10058400" cy="365760"/>
          </a:xfrm>
          <a:prstGeom prst="rect">
            <a:avLst/>
          </a:prstGeom>
          <a:noFill/>
        </p:spPr>
        <p:txBody>
          <a:bodyPr wrap="square" lIns="0" tIns="0" rIns="0" bIns="0" anchor="t">
            <a:spAutoFit/>
          </a:bodyPr>
          <a:lstStyle/>
          <a:p>
            <a:pPr algn="l">
              <a:spcAft>
                <a:spcPts val="200"/>
              </a:spcAft>
            </a:pPr>
            <a:r>
              <a:rPr sz="1300" b="0" i="1">
                <a:solidFill>
                  <a:srgbClr val="525B6E"/>
                </a:solidFill>
                <a:latin typeface="Roboto"/>
              </a:rPr>
              <a:t>The bandwidth gap that quietly breaks immersion</a:t>
            </a:r>
          </a:p>
        </p:txBody>
      </p:sp>
      <p:sp>
        <p:nvSpPr>
          <p:cNvPr id="4" name="Rounded Rectangle 3"/>
          <p:cNvSpPr/>
          <p:nvPr/>
        </p:nvSpPr>
        <p:spPr>
          <a:xfrm>
            <a:off x="548640" y="1554480"/>
            <a:ext cx="3611880" cy="237744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60" y="1783080"/>
            <a:ext cx="502920" cy="502920"/>
          </a:xfrm>
          <a:prstGeom prst="ellipse">
            <a:avLst/>
          </a:prstGeom>
          <a:solidFill>
            <a:srgbClr val="4285F4"/>
          </a:solidFill>
          <a:ln>
            <a:noFill/>
          </a:ln>
          <a:effectLst>
            <a:outerShdw blurRad="25000" dist="6000" dir="2700000" rotWithShape="0">
              <a:srgbClr val="4285F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423160"/>
            <a:ext cx="3200400" cy="457200"/>
          </a:xfrm>
          <a:prstGeom prst="rect">
            <a:avLst/>
          </a:prstGeom>
          <a:noFill/>
        </p:spPr>
        <p:txBody>
          <a:bodyPr wrap="square" lIns="0" tIns="0" rIns="0" bIns="0" anchor="t">
            <a:spAutoFit/>
          </a:bodyPr>
          <a:lstStyle/>
          <a:p>
            <a:pPr algn="l">
              <a:spcAft>
                <a:spcPts val="200"/>
              </a:spcAft>
            </a:pPr>
            <a:r>
              <a:rPr sz="1800" b="1" i="0">
                <a:solidFill>
                  <a:srgbClr val="1F2433"/>
                </a:solidFill>
                <a:latin typeface="Google Sans"/>
              </a:rPr>
              <a:t>Bandwidth gap</a:t>
            </a:r>
          </a:p>
        </p:txBody>
      </p:sp>
      <p:sp>
        <p:nvSpPr>
          <p:cNvPr id="7" name="TextBox 6"/>
          <p:cNvSpPr txBox="1"/>
          <p:nvPr/>
        </p:nvSpPr>
        <p:spPr>
          <a:xfrm>
            <a:off x="822960" y="2880360"/>
            <a:ext cx="3200400" cy="1097280"/>
          </a:xfrm>
          <a:prstGeom prst="rect">
            <a:avLst/>
          </a:prstGeom>
          <a:noFill/>
        </p:spPr>
        <p:txBody>
          <a:bodyPr wrap="square" lIns="0" tIns="0" rIns="0" bIns="0" anchor="t">
            <a:spAutoFit/>
          </a:bodyPr>
          <a:lstStyle/>
          <a:p>
            <a:pPr algn="l">
              <a:spcAft>
                <a:spcPts val="200"/>
              </a:spcAft>
            </a:pPr>
            <a:r>
              <a:rPr sz="1300" b="0" i="0">
                <a:solidFill>
                  <a:srgbClr val="525B6E"/>
                </a:solidFill>
                <a:latin typeface="Roboto"/>
              </a:rPr>
              <a:t>Video uses 3–8 Mbps;
audio is capped at 64–128 kbps.</a:t>
            </a:r>
          </a:p>
        </p:txBody>
      </p:sp>
      <p:sp>
        <p:nvSpPr>
          <p:cNvPr id="8" name="Rounded Rectangle 7"/>
          <p:cNvSpPr/>
          <p:nvPr/>
        </p:nvSpPr>
        <p:spPr>
          <a:xfrm>
            <a:off x="4343400" y="1554480"/>
            <a:ext cx="3611880" cy="237744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617720" y="1783080"/>
            <a:ext cx="502920" cy="50292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2423160"/>
            <a:ext cx="3200400" cy="457200"/>
          </a:xfrm>
          <a:prstGeom prst="rect">
            <a:avLst/>
          </a:prstGeom>
          <a:noFill/>
        </p:spPr>
        <p:txBody>
          <a:bodyPr wrap="square" lIns="0" tIns="0" rIns="0" bIns="0" anchor="t">
            <a:spAutoFit/>
          </a:bodyPr>
          <a:lstStyle/>
          <a:p>
            <a:pPr algn="l">
              <a:spcAft>
                <a:spcPts val="200"/>
              </a:spcAft>
            </a:pPr>
            <a:r>
              <a:rPr sz="1800" b="1" i="0">
                <a:solidFill>
                  <a:srgbClr val="1F2433"/>
                </a:solidFill>
                <a:latin typeface="Google Sans"/>
              </a:rPr>
              <a:t>Spatial cues are fragile</a:t>
            </a:r>
          </a:p>
        </p:txBody>
      </p:sp>
      <p:sp>
        <p:nvSpPr>
          <p:cNvPr id="11" name="TextBox 10"/>
          <p:cNvSpPr txBox="1"/>
          <p:nvPr/>
        </p:nvSpPr>
        <p:spPr>
          <a:xfrm>
            <a:off x="4617720" y="2880360"/>
            <a:ext cx="3200400" cy="1097280"/>
          </a:xfrm>
          <a:prstGeom prst="rect">
            <a:avLst/>
          </a:prstGeom>
          <a:noFill/>
        </p:spPr>
        <p:txBody>
          <a:bodyPr wrap="square" lIns="0" tIns="0" rIns="0" bIns="0" anchor="t">
            <a:spAutoFit/>
          </a:bodyPr>
          <a:lstStyle/>
          <a:p>
            <a:pPr algn="l">
              <a:spcAft>
                <a:spcPts val="200"/>
              </a:spcAft>
            </a:pPr>
            <a:r>
              <a:rPr sz="1300" b="0" i="0">
                <a:solidFill>
                  <a:srgbClr val="525B6E"/>
                </a:solidFill>
                <a:latin typeface="Roboto"/>
              </a:rPr>
              <a:t>ITD and ILD live in transients and
high frequencies — the first to be cut.</a:t>
            </a:r>
          </a:p>
        </p:txBody>
      </p:sp>
      <p:sp>
        <p:nvSpPr>
          <p:cNvPr id="12" name="Rounded Rectangle 11"/>
          <p:cNvSpPr/>
          <p:nvPr/>
        </p:nvSpPr>
        <p:spPr>
          <a:xfrm>
            <a:off x="8138160" y="1554480"/>
            <a:ext cx="3611880" cy="237744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412480" y="1783080"/>
            <a:ext cx="502920" cy="502920"/>
          </a:xfrm>
          <a:prstGeom prst="ellipse">
            <a:avLst/>
          </a:prstGeom>
          <a:solidFill>
            <a:srgbClr val="FBBC04"/>
          </a:solidFill>
          <a:ln>
            <a:noFill/>
          </a:ln>
          <a:effectLst>
            <a:outerShdw blurRad="25000" dist="6000" dir="2700000" rotWithShape="0">
              <a:srgbClr val="FBBC0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2423160"/>
            <a:ext cx="3200400" cy="457200"/>
          </a:xfrm>
          <a:prstGeom prst="rect">
            <a:avLst/>
          </a:prstGeom>
          <a:noFill/>
        </p:spPr>
        <p:txBody>
          <a:bodyPr wrap="square" lIns="0" tIns="0" rIns="0" bIns="0" anchor="t">
            <a:spAutoFit/>
          </a:bodyPr>
          <a:lstStyle/>
          <a:p>
            <a:pPr algn="l">
              <a:spcAft>
                <a:spcPts val="200"/>
              </a:spcAft>
            </a:pPr>
            <a:r>
              <a:rPr sz="1800" b="1" i="0">
                <a:solidFill>
                  <a:srgbClr val="1F2433"/>
                </a:solidFill>
                <a:latin typeface="Google Sans"/>
              </a:rPr>
              <a:t>Immersion at risk</a:t>
            </a:r>
          </a:p>
        </p:txBody>
      </p:sp>
      <p:sp>
        <p:nvSpPr>
          <p:cNvPr id="15" name="TextBox 14"/>
          <p:cNvSpPr txBox="1"/>
          <p:nvPr/>
        </p:nvSpPr>
        <p:spPr>
          <a:xfrm>
            <a:off x="8412480" y="2880360"/>
            <a:ext cx="3200400" cy="1097280"/>
          </a:xfrm>
          <a:prstGeom prst="rect">
            <a:avLst/>
          </a:prstGeom>
          <a:noFill/>
        </p:spPr>
        <p:txBody>
          <a:bodyPr wrap="square" lIns="0" tIns="0" rIns="0" bIns="0" anchor="t">
            <a:spAutoFit/>
          </a:bodyPr>
          <a:lstStyle/>
          <a:p>
            <a:pPr algn="l">
              <a:spcAft>
                <a:spcPts val="200"/>
              </a:spcAft>
            </a:pPr>
            <a:r>
              <a:rPr sz="1300" b="0" i="0">
                <a:solidFill>
                  <a:srgbClr val="525B6E"/>
                </a:solidFill>
                <a:latin typeface="Roboto"/>
              </a:rPr>
              <a:t>VR / AR / Metaverse demand
presence — bad audio breaks it.</a:t>
            </a:r>
          </a:p>
        </p:txBody>
      </p:sp>
      <p:sp>
        <p:nvSpPr>
          <p:cNvPr id="16" name="Rounded Rectangle 15"/>
          <p:cNvSpPr/>
          <p:nvPr/>
        </p:nvSpPr>
        <p:spPr>
          <a:xfrm>
            <a:off x="548640" y="4297680"/>
            <a:ext cx="11064240" cy="182880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48640" y="4297680"/>
            <a:ext cx="70000" cy="1828800"/>
          </a:xfrm>
          <a:prstGeom prst="roundRect">
            <a:avLst>
              <a:gd name="adj" fmla="val 45000"/>
            </a:avLst>
          </a:prstGeom>
          <a:solidFill>
            <a:srgbClr val="34A853"/>
          </a:solidFill>
          <a:ln>
            <a:noFill/>
          </a:ln>
          <a:effectLst>
            <a:outerShdw blurRad="20000" dist="4000" dir="2700000" rotWithShape="0">
              <a:srgbClr val="34A85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434840"/>
            <a:ext cx="10058400" cy="457200"/>
          </a:xfrm>
          <a:prstGeom prst="rect">
            <a:avLst/>
          </a:prstGeom>
          <a:noFill/>
        </p:spPr>
        <p:txBody>
          <a:bodyPr wrap="square" lIns="0" tIns="0" rIns="0" bIns="0" anchor="t">
            <a:spAutoFit/>
          </a:bodyPr>
          <a:lstStyle/>
          <a:p>
            <a:pPr algn="l">
              <a:spcAft>
                <a:spcPts val="200"/>
              </a:spcAft>
            </a:pPr>
            <a:r>
              <a:rPr sz="1200" b="1" i="0">
                <a:solidFill>
                  <a:srgbClr val="34A853"/>
                </a:solidFill>
                <a:latin typeface="Google Sans"/>
              </a:rPr>
              <a:t>Question</a:t>
            </a:r>
          </a:p>
        </p:txBody>
      </p:sp>
      <p:sp>
        <p:nvSpPr>
          <p:cNvPr id="19" name="TextBox 18"/>
          <p:cNvSpPr txBox="1"/>
          <p:nvPr/>
        </p:nvSpPr>
        <p:spPr>
          <a:xfrm>
            <a:off x="914400" y="4800600"/>
            <a:ext cx="10058400" cy="1280160"/>
          </a:xfrm>
          <a:prstGeom prst="rect">
            <a:avLst/>
          </a:prstGeom>
          <a:noFill/>
        </p:spPr>
        <p:txBody>
          <a:bodyPr wrap="square" lIns="0" tIns="0" rIns="0" bIns="0" anchor="t">
            <a:spAutoFit/>
          </a:bodyPr>
          <a:lstStyle/>
          <a:p>
            <a:pPr algn="l">
              <a:spcAft>
                <a:spcPts val="200"/>
              </a:spcAft>
            </a:pPr>
            <a:r>
              <a:rPr sz="2200" b="1" i="0">
                <a:solidFill>
                  <a:srgbClr val="1F2433"/>
                </a:solidFill>
                <a:latin typeface="Google Sans"/>
              </a:rPr>
              <a:t>Which codec converts the smallest bitrate into the most directional clarity?</a:t>
            </a:r>
          </a:p>
        </p:txBody>
      </p:sp>
      <p:sp>
        <p:nvSpPr>
          <p:cNvPr id="20" name="TextBox 19"/>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22" name="TextBox 21">
            <a:extLst>
              <a:ext uri="{FF2B5EF4-FFF2-40B4-BE49-F238E27FC236}">
                <a16:creationId xmlns:a16="http://schemas.microsoft.com/office/drawing/2014/main" id="{D0957291-47DC-FD31-9866-211D066FAE15}"/>
              </a:ext>
            </a:extLst>
          </p:cNvPr>
          <p:cNvSpPr txBox="1"/>
          <p:nvPr/>
        </p:nvSpPr>
        <p:spPr>
          <a:xfrm>
            <a:off x="10561320" y="6620256"/>
            <a:ext cx="1554480" cy="153888"/>
          </a:xfrm>
          <a:prstGeom prst="rect">
            <a:avLst/>
          </a:prstGeom>
          <a:noFill/>
        </p:spPr>
        <p:txBody>
          <a:bodyPr wrap="square" lIns="0" tIns="0" rIns="0" bIns="0" anchor="t">
            <a:spAutoFit/>
          </a:bodyPr>
          <a:lstStyle/>
          <a:p>
            <a:pPr algn="r">
              <a:spcAft>
                <a:spcPts val="200"/>
              </a:spcAft>
            </a:pPr>
            <a:r>
              <a:rPr lang="en-US" sz="1000" b="0" i="0" dirty="0">
                <a:solidFill>
                  <a:srgbClr val="8C96A8"/>
                </a:solidFill>
                <a:latin typeface="Roboto"/>
              </a:rPr>
              <a:t>2</a:t>
            </a:r>
            <a:r>
              <a:rPr sz="1000" b="0" i="0" dirty="0">
                <a:solidFill>
                  <a:srgbClr val="8C96A8"/>
                </a:solidFill>
                <a:latin typeface="Roboto"/>
              </a:rPr>
              <a:t>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640080"/>
          </a:xfrm>
          <a:prstGeom prst="rect">
            <a:avLst/>
          </a:prstGeom>
          <a:noFill/>
        </p:spPr>
        <p:txBody>
          <a:bodyPr wrap="square" lIns="0" tIns="0" rIns="0" bIns="0" anchor="t">
            <a:spAutoFit/>
          </a:bodyPr>
          <a:lstStyle/>
          <a:p>
            <a:pPr algn="l">
              <a:spcAft>
                <a:spcPts val="200"/>
              </a:spcAft>
            </a:pPr>
            <a:r>
              <a:rPr sz="3200" b="1" i="0">
                <a:solidFill>
                  <a:srgbClr val="1F2433"/>
                </a:solidFill>
                <a:latin typeface="Google Sans"/>
              </a:rPr>
              <a:t>Objectives</a:t>
            </a:r>
          </a:p>
        </p:txBody>
      </p:sp>
      <p:sp>
        <p:nvSpPr>
          <p:cNvPr id="3" name="TextBox 2"/>
          <p:cNvSpPr txBox="1"/>
          <p:nvPr/>
        </p:nvSpPr>
        <p:spPr>
          <a:xfrm>
            <a:off x="548640" y="960120"/>
            <a:ext cx="10058400" cy="365760"/>
          </a:xfrm>
          <a:prstGeom prst="rect">
            <a:avLst/>
          </a:prstGeom>
          <a:noFill/>
        </p:spPr>
        <p:txBody>
          <a:bodyPr wrap="square" lIns="0" tIns="0" rIns="0" bIns="0" anchor="t">
            <a:spAutoFit/>
          </a:bodyPr>
          <a:lstStyle/>
          <a:p>
            <a:pPr algn="l">
              <a:spcAft>
                <a:spcPts val="200"/>
              </a:spcAft>
            </a:pPr>
            <a:r>
              <a:rPr sz="1300" b="0" i="1">
                <a:solidFill>
                  <a:srgbClr val="525B6E"/>
                </a:solidFill>
                <a:latin typeface="Roboto"/>
              </a:rPr>
              <a:t>Four concrete questions, one experimental program</a:t>
            </a:r>
          </a:p>
        </p:txBody>
      </p:sp>
      <p:sp>
        <p:nvSpPr>
          <p:cNvPr id="4" name="Rounded Rectangle 3"/>
          <p:cNvSpPr/>
          <p:nvPr/>
        </p:nvSpPr>
        <p:spPr>
          <a:xfrm>
            <a:off x="548640" y="1554480"/>
            <a:ext cx="5486400" cy="201168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8680" y="2176272"/>
            <a:ext cx="822960" cy="822960"/>
          </a:xfrm>
          <a:prstGeom prst="ellipse">
            <a:avLst/>
          </a:prstGeom>
          <a:solidFill>
            <a:srgbClr val="4285F4"/>
          </a:solidFill>
          <a:ln>
            <a:noFill/>
          </a:ln>
          <a:effectLst>
            <a:outerShdw blurRad="30000" dist="8000" dir="2700000" rotWithShape="0">
              <a:srgbClr val="4285F4">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Google Sans"/>
              </a:rPr>
              <a:t>01</a:t>
            </a:r>
          </a:p>
        </p:txBody>
      </p:sp>
      <p:sp>
        <p:nvSpPr>
          <p:cNvPr id="6" name="TextBox 5"/>
          <p:cNvSpPr txBox="1"/>
          <p:nvPr/>
        </p:nvSpPr>
        <p:spPr>
          <a:xfrm>
            <a:off x="1920240" y="2267712"/>
            <a:ext cx="4114800" cy="502920"/>
          </a:xfrm>
          <a:prstGeom prst="rect">
            <a:avLst/>
          </a:prstGeom>
          <a:noFill/>
        </p:spPr>
        <p:txBody>
          <a:bodyPr wrap="square" lIns="0" tIns="0" rIns="0" bIns="0" anchor="t">
            <a:spAutoFit/>
          </a:bodyPr>
          <a:lstStyle/>
          <a:p>
            <a:pPr algn="l">
              <a:spcAft>
                <a:spcPts val="200"/>
              </a:spcAft>
            </a:pPr>
            <a:r>
              <a:rPr sz="2000" b="1" i="0">
                <a:solidFill>
                  <a:srgbClr val="1F2433"/>
                </a:solidFill>
                <a:latin typeface="Google Sans"/>
              </a:rPr>
              <a:t>Compare codecs</a:t>
            </a:r>
          </a:p>
        </p:txBody>
      </p:sp>
      <p:sp>
        <p:nvSpPr>
          <p:cNvPr id="7" name="TextBox 6"/>
          <p:cNvSpPr txBox="1"/>
          <p:nvPr/>
        </p:nvSpPr>
        <p:spPr>
          <a:xfrm>
            <a:off x="1920240" y="2633472"/>
            <a:ext cx="4114800" cy="914400"/>
          </a:xfrm>
          <a:prstGeom prst="rect">
            <a:avLst/>
          </a:prstGeom>
          <a:noFill/>
        </p:spPr>
        <p:txBody>
          <a:bodyPr wrap="square" lIns="0" tIns="0" rIns="0" bIns="0" anchor="t">
            <a:spAutoFit/>
          </a:bodyPr>
          <a:lstStyle/>
          <a:p>
            <a:pPr algn="l">
              <a:spcAft>
                <a:spcPts val="200"/>
              </a:spcAft>
            </a:pPr>
            <a:r>
              <a:rPr sz="1400" b="0" i="0" dirty="0">
                <a:solidFill>
                  <a:srgbClr val="525B6E"/>
                </a:solidFill>
                <a:latin typeface="Roboto"/>
              </a:rPr>
              <a:t>MP3 vs AAC vs Opus across 24–256 kbps</a:t>
            </a:r>
          </a:p>
        </p:txBody>
      </p:sp>
      <p:sp>
        <p:nvSpPr>
          <p:cNvPr id="8" name="Rounded Rectangle 7"/>
          <p:cNvSpPr/>
          <p:nvPr/>
        </p:nvSpPr>
        <p:spPr>
          <a:xfrm>
            <a:off x="6217920" y="1554480"/>
            <a:ext cx="5486400" cy="201168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537960" y="2176272"/>
            <a:ext cx="822960" cy="822960"/>
          </a:xfrm>
          <a:prstGeom prst="ellipse">
            <a:avLst/>
          </a:prstGeom>
          <a:solidFill>
            <a:srgbClr val="EA4335"/>
          </a:solidFill>
          <a:ln>
            <a:noFill/>
          </a:ln>
          <a:effectLst>
            <a:outerShdw blurRad="30000" dist="8000" dir="2700000" rotWithShape="0">
              <a:srgbClr val="EA4335">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Google Sans"/>
              </a:rPr>
              <a:t>02</a:t>
            </a:r>
          </a:p>
        </p:txBody>
      </p:sp>
      <p:sp>
        <p:nvSpPr>
          <p:cNvPr id="10" name="TextBox 9"/>
          <p:cNvSpPr txBox="1"/>
          <p:nvPr/>
        </p:nvSpPr>
        <p:spPr>
          <a:xfrm>
            <a:off x="7589520" y="2267712"/>
            <a:ext cx="4114800" cy="502920"/>
          </a:xfrm>
          <a:prstGeom prst="rect">
            <a:avLst/>
          </a:prstGeom>
          <a:noFill/>
        </p:spPr>
        <p:txBody>
          <a:bodyPr wrap="square" lIns="0" tIns="0" rIns="0" bIns="0" anchor="t">
            <a:spAutoFit/>
          </a:bodyPr>
          <a:lstStyle/>
          <a:p>
            <a:pPr algn="l">
              <a:spcAft>
                <a:spcPts val="200"/>
              </a:spcAft>
            </a:pPr>
            <a:r>
              <a:rPr sz="2000" b="1" i="0">
                <a:solidFill>
                  <a:srgbClr val="1F2433"/>
                </a:solidFill>
                <a:latin typeface="Google Sans"/>
              </a:rPr>
              <a:t>Find transparency</a:t>
            </a:r>
          </a:p>
        </p:txBody>
      </p:sp>
      <p:sp>
        <p:nvSpPr>
          <p:cNvPr id="11" name="TextBox 10"/>
          <p:cNvSpPr txBox="1"/>
          <p:nvPr/>
        </p:nvSpPr>
        <p:spPr>
          <a:xfrm>
            <a:off x="7589520" y="2633472"/>
            <a:ext cx="4114800" cy="914400"/>
          </a:xfrm>
          <a:prstGeom prst="rect">
            <a:avLst/>
          </a:prstGeom>
          <a:noFill/>
        </p:spPr>
        <p:txBody>
          <a:bodyPr wrap="square" lIns="0" tIns="0" rIns="0" bIns="0" anchor="t">
            <a:spAutoFit/>
          </a:bodyPr>
          <a:lstStyle/>
          <a:p>
            <a:pPr algn="l">
              <a:spcAft>
                <a:spcPts val="200"/>
              </a:spcAft>
            </a:pPr>
            <a:r>
              <a:rPr sz="1400" b="0" i="0" dirty="0">
                <a:solidFill>
                  <a:srgbClr val="525B6E"/>
                </a:solidFill>
                <a:latin typeface="Roboto"/>
              </a:rPr>
              <a:t>Bitrate at which listeners can no longer tell</a:t>
            </a:r>
          </a:p>
        </p:txBody>
      </p:sp>
      <p:sp>
        <p:nvSpPr>
          <p:cNvPr id="12" name="Rounded Rectangle 11"/>
          <p:cNvSpPr/>
          <p:nvPr/>
        </p:nvSpPr>
        <p:spPr>
          <a:xfrm>
            <a:off x="548640" y="3749039"/>
            <a:ext cx="5486400" cy="201168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68680" y="4370831"/>
            <a:ext cx="822960" cy="822960"/>
          </a:xfrm>
          <a:prstGeom prst="ellipse">
            <a:avLst/>
          </a:prstGeom>
          <a:solidFill>
            <a:srgbClr val="FBBC04"/>
          </a:solidFill>
          <a:ln>
            <a:noFill/>
          </a:ln>
          <a:effectLst>
            <a:outerShdw blurRad="30000" dist="8000" dir="2700000" rotWithShape="0">
              <a:srgbClr val="FBBC04">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Google Sans"/>
              </a:rPr>
              <a:t>03</a:t>
            </a:r>
          </a:p>
        </p:txBody>
      </p:sp>
      <p:sp>
        <p:nvSpPr>
          <p:cNvPr id="14" name="TextBox 13"/>
          <p:cNvSpPr txBox="1"/>
          <p:nvPr/>
        </p:nvSpPr>
        <p:spPr>
          <a:xfrm>
            <a:off x="1920240" y="4462271"/>
            <a:ext cx="4114800" cy="502920"/>
          </a:xfrm>
          <a:prstGeom prst="rect">
            <a:avLst/>
          </a:prstGeom>
          <a:noFill/>
        </p:spPr>
        <p:txBody>
          <a:bodyPr wrap="square" lIns="0" tIns="0" rIns="0" bIns="0" anchor="t">
            <a:spAutoFit/>
          </a:bodyPr>
          <a:lstStyle/>
          <a:p>
            <a:pPr algn="l">
              <a:spcAft>
                <a:spcPts val="200"/>
              </a:spcAft>
            </a:pPr>
            <a:r>
              <a:rPr sz="2000" b="1" i="0">
                <a:solidFill>
                  <a:srgbClr val="1F2433"/>
                </a:solidFill>
                <a:latin typeface="Google Sans"/>
              </a:rPr>
              <a:t>Build the player</a:t>
            </a:r>
          </a:p>
        </p:txBody>
      </p:sp>
      <p:sp>
        <p:nvSpPr>
          <p:cNvPr id="15" name="TextBox 14"/>
          <p:cNvSpPr txBox="1"/>
          <p:nvPr/>
        </p:nvSpPr>
        <p:spPr>
          <a:xfrm>
            <a:off x="1920240" y="4828031"/>
            <a:ext cx="4114800" cy="914400"/>
          </a:xfrm>
          <a:prstGeom prst="rect">
            <a:avLst/>
          </a:prstGeom>
          <a:noFill/>
        </p:spPr>
        <p:txBody>
          <a:bodyPr wrap="square" lIns="0" tIns="0" rIns="0" bIns="0" anchor="t">
            <a:spAutoFit/>
          </a:bodyPr>
          <a:lstStyle/>
          <a:p>
            <a:pPr algn="l">
              <a:spcAft>
                <a:spcPts val="200"/>
              </a:spcAft>
            </a:pPr>
            <a:r>
              <a:rPr sz="1400" b="0" i="0" dirty="0">
                <a:solidFill>
                  <a:srgbClr val="525B6E"/>
                </a:solidFill>
                <a:latin typeface="Roboto"/>
              </a:rPr>
              <a:t>Web Audio API + HRTF, deployed and live</a:t>
            </a:r>
          </a:p>
        </p:txBody>
      </p:sp>
      <p:sp>
        <p:nvSpPr>
          <p:cNvPr id="16" name="Rounded Rectangle 15"/>
          <p:cNvSpPr/>
          <p:nvPr/>
        </p:nvSpPr>
        <p:spPr>
          <a:xfrm>
            <a:off x="6217920" y="3749039"/>
            <a:ext cx="5486400" cy="201168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537960" y="4370831"/>
            <a:ext cx="822960" cy="822960"/>
          </a:xfrm>
          <a:prstGeom prst="ellipse">
            <a:avLst/>
          </a:prstGeom>
          <a:solidFill>
            <a:srgbClr val="34A853"/>
          </a:solidFill>
          <a:ln>
            <a:noFill/>
          </a:ln>
          <a:effectLst>
            <a:outerShdw blurRad="30000" dist="8000" dir="2700000" rotWithShape="0">
              <a:srgbClr val="34A853">
                <a:alpha val="3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Google Sans"/>
              </a:rPr>
              <a:t>04</a:t>
            </a:r>
          </a:p>
        </p:txBody>
      </p:sp>
      <p:sp>
        <p:nvSpPr>
          <p:cNvPr id="18" name="TextBox 17"/>
          <p:cNvSpPr txBox="1"/>
          <p:nvPr/>
        </p:nvSpPr>
        <p:spPr>
          <a:xfrm>
            <a:off x="7589520" y="4462271"/>
            <a:ext cx="4114800" cy="502920"/>
          </a:xfrm>
          <a:prstGeom prst="rect">
            <a:avLst/>
          </a:prstGeom>
          <a:noFill/>
        </p:spPr>
        <p:txBody>
          <a:bodyPr wrap="square" lIns="0" tIns="0" rIns="0" bIns="0" anchor="t">
            <a:spAutoFit/>
          </a:bodyPr>
          <a:lstStyle/>
          <a:p>
            <a:pPr algn="l">
              <a:spcAft>
                <a:spcPts val="200"/>
              </a:spcAft>
            </a:pPr>
            <a:r>
              <a:rPr sz="2000" b="1" i="0">
                <a:solidFill>
                  <a:srgbClr val="1F2433"/>
                </a:solidFill>
                <a:latin typeface="Google Sans"/>
              </a:rPr>
              <a:t>Stress the network</a:t>
            </a:r>
          </a:p>
        </p:txBody>
      </p:sp>
      <p:sp>
        <p:nvSpPr>
          <p:cNvPr id="19" name="TextBox 18"/>
          <p:cNvSpPr txBox="1"/>
          <p:nvPr/>
        </p:nvSpPr>
        <p:spPr>
          <a:xfrm>
            <a:off x="7589520" y="4828031"/>
            <a:ext cx="4114800" cy="914400"/>
          </a:xfrm>
          <a:prstGeom prst="rect">
            <a:avLst/>
          </a:prstGeom>
          <a:noFill/>
        </p:spPr>
        <p:txBody>
          <a:bodyPr wrap="square" lIns="0" tIns="0" rIns="0" bIns="0" anchor="t">
            <a:spAutoFit/>
          </a:bodyPr>
          <a:lstStyle/>
          <a:p>
            <a:pPr algn="l">
              <a:spcAft>
                <a:spcPts val="200"/>
              </a:spcAft>
            </a:pPr>
            <a:r>
              <a:rPr sz="1400" b="0" i="0" dirty="0">
                <a:solidFill>
                  <a:srgbClr val="525B6E"/>
                </a:solidFill>
                <a:latin typeface="Roboto"/>
              </a:rPr>
              <a:t>Loss / jitter → spatial breakdown point</a:t>
            </a:r>
          </a:p>
        </p:txBody>
      </p:sp>
      <p:sp>
        <p:nvSpPr>
          <p:cNvPr id="20" name="TextBox 19"/>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22" name="TextBox 21">
            <a:extLst>
              <a:ext uri="{FF2B5EF4-FFF2-40B4-BE49-F238E27FC236}">
                <a16:creationId xmlns:a16="http://schemas.microsoft.com/office/drawing/2014/main" id="{7EF08BA9-BD3B-5C3B-06B7-E304BABBE0BB}"/>
              </a:ext>
            </a:extLst>
          </p:cNvPr>
          <p:cNvSpPr txBox="1"/>
          <p:nvPr/>
        </p:nvSpPr>
        <p:spPr>
          <a:xfrm>
            <a:off x="10561320" y="6620256"/>
            <a:ext cx="1554480" cy="153888"/>
          </a:xfrm>
          <a:prstGeom prst="rect">
            <a:avLst/>
          </a:prstGeom>
          <a:noFill/>
        </p:spPr>
        <p:txBody>
          <a:bodyPr wrap="square" lIns="0" tIns="0" rIns="0" bIns="0" anchor="t">
            <a:spAutoFit/>
          </a:bodyPr>
          <a:lstStyle/>
          <a:p>
            <a:pPr algn="r">
              <a:spcAft>
                <a:spcPts val="200"/>
              </a:spcAft>
            </a:pPr>
            <a:r>
              <a:rPr lang="en-US" sz="1000" b="0" i="0" dirty="0">
                <a:solidFill>
                  <a:srgbClr val="8C96A8"/>
                </a:solidFill>
                <a:latin typeface="Roboto"/>
              </a:rPr>
              <a:t>3</a:t>
            </a:r>
            <a:r>
              <a:rPr sz="1000" b="0" i="0" dirty="0">
                <a:solidFill>
                  <a:srgbClr val="8C96A8"/>
                </a:solidFill>
                <a:latin typeface="Roboto"/>
              </a:rPr>
              <a:t>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640080"/>
          </a:xfrm>
          <a:prstGeom prst="rect">
            <a:avLst/>
          </a:prstGeom>
          <a:noFill/>
        </p:spPr>
        <p:txBody>
          <a:bodyPr wrap="square" lIns="0" tIns="0" rIns="0" bIns="0" anchor="t">
            <a:spAutoFit/>
          </a:bodyPr>
          <a:lstStyle/>
          <a:p>
            <a:pPr algn="l">
              <a:spcAft>
                <a:spcPts val="200"/>
              </a:spcAft>
            </a:pPr>
            <a:r>
              <a:rPr sz="3200" b="1" i="0">
                <a:solidFill>
                  <a:srgbClr val="1F2433"/>
                </a:solidFill>
                <a:latin typeface="Google Sans"/>
              </a:rPr>
              <a:t>System &amp; Methodology</a:t>
            </a:r>
          </a:p>
        </p:txBody>
      </p:sp>
      <p:sp>
        <p:nvSpPr>
          <p:cNvPr id="3" name="TextBox 2"/>
          <p:cNvSpPr txBox="1"/>
          <p:nvPr/>
        </p:nvSpPr>
        <p:spPr>
          <a:xfrm>
            <a:off x="548640" y="960120"/>
            <a:ext cx="10058400" cy="365760"/>
          </a:xfrm>
          <a:prstGeom prst="rect">
            <a:avLst/>
          </a:prstGeom>
          <a:noFill/>
        </p:spPr>
        <p:txBody>
          <a:bodyPr wrap="square" lIns="0" tIns="0" rIns="0" bIns="0" anchor="t">
            <a:spAutoFit/>
          </a:bodyPr>
          <a:lstStyle/>
          <a:p>
            <a:pPr algn="l">
              <a:spcAft>
                <a:spcPts val="200"/>
              </a:spcAft>
            </a:pPr>
            <a:r>
              <a:rPr sz="1300" b="0" i="1">
                <a:solidFill>
                  <a:srgbClr val="525B6E"/>
                </a:solidFill>
                <a:latin typeface="Roboto"/>
              </a:rPr>
              <a:t>End-to-end: encode → analyse → spatialise → stress</a:t>
            </a:r>
          </a:p>
        </p:txBody>
      </p:sp>
      <p:sp>
        <p:nvSpPr>
          <p:cNvPr id="4" name="Rounded Rectangle 3"/>
          <p:cNvSpPr/>
          <p:nvPr/>
        </p:nvSpPr>
        <p:spPr>
          <a:xfrm>
            <a:off x="548640" y="2520510"/>
            <a:ext cx="2670048" cy="141141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2674619"/>
            <a:ext cx="457200" cy="457200"/>
          </a:xfrm>
          <a:prstGeom prst="ellipse">
            <a:avLst/>
          </a:prstGeom>
          <a:solidFill>
            <a:srgbClr val="4285F4"/>
          </a:solidFill>
          <a:ln>
            <a:noFill/>
          </a:ln>
          <a:effectLst>
            <a:outerShdw blurRad="25000" dist="6000" dir="2700000" rotWithShape="0">
              <a:srgbClr val="4285F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3268980"/>
            <a:ext cx="2377440" cy="411480"/>
          </a:xfrm>
          <a:prstGeom prst="rect">
            <a:avLst/>
          </a:prstGeom>
          <a:noFill/>
        </p:spPr>
        <p:txBody>
          <a:bodyPr wrap="square" lIns="0" tIns="0" rIns="0" bIns="0" anchor="t">
            <a:spAutoFit/>
          </a:bodyPr>
          <a:lstStyle/>
          <a:p>
            <a:pPr algn="l">
              <a:spcAft>
                <a:spcPts val="200"/>
              </a:spcAft>
            </a:pPr>
            <a:r>
              <a:rPr sz="1600" b="1" i="0" dirty="0" err="1">
                <a:solidFill>
                  <a:srgbClr val="1F2433"/>
                </a:solidFill>
                <a:latin typeface="Google Sans"/>
              </a:rPr>
              <a:t>FFmpeg</a:t>
            </a:r>
            <a:endParaRPr sz="1600" b="1" i="0" dirty="0">
              <a:solidFill>
                <a:srgbClr val="1F2433"/>
              </a:solidFill>
              <a:latin typeface="Google Sans"/>
            </a:endParaRPr>
          </a:p>
        </p:txBody>
      </p:sp>
      <p:sp>
        <p:nvSpPr>
          <p:cNvPr id="7" name="TextBox 6"/>
          <p:cNvSpPr txBox="1"/>
          <p:nvPr/>
        </p:nvSpPr>
        <p:spPr>
          <a:xfrm>
            <a:off x="777240" y="3526350"/>
            <a:ext cx="2377440" cy="914400"/>
          </a:xfrm>
          <a:prstGeom prst="rect">
            <a:avLst/>
          </a:prstGeom>
          <a:noFill/>
        </p:spPr>
        <p:txBody>
          <a:bodyPr wrap="square" lIns="0" tIns="0" rIns="0" bIns="0" anchor="t">
            <a:spAutoFit/>
          </a:bodyPr>
          <a:lstStyle/>
          <a:p>
            <a:pPr algn="l">
              <a:spcAft>
                <a:spcPts val="200"/>
              </a:spcAft>
            </a:pPr>
            <a:r>
              <a:rPr sz="1200" b="0" i="0" dirty="0" err="1">
                <a:solidFill>
                  <a:srgbClr val="525B6E"/>
                </a:solidFill>
                <a:latin typeface="Roboto"/>
              </a:rPr>
              <a:t>libfdk-aac</a:t>
            </a:r>
            <a:r>
              <a:rPr sz="1200" b="0" i="0" dirty="0">
                <a:solidFill>
                  <a:srgbClr val="525B6E"/>
                </a:solidFill>
                <a:latin typeface="Roboto"/>
              </a:rPr>
              <a:t> · libmp3lame · </a:t>
            </a:r>
            <a:r>
              <a:rPr sz="1200" b="0" i="0" dirty="0" err="1">
                <a:solidFill>
                  <a:srgbClr val="525B6E"/>
                </a:solidFill>
                <a:latin typeface="Roboto"/>
              </a:rPr>
              <a:t>libopus</a:t>
            </a:r>
            <a:endParaRPr sz="1200" b="0" i="0" dirty="0">
              <a:solidFill>
                <a:srgbClr val="525B6E"/>
              </a:solidFill>
              <a:latin typeface="Roboto"/>
            </a:endParaRPr>
          </a:p>
        </p:txBody>
      </p:sp>
      <p:sp>
        <p:nvSpPr>
          <p:cNvPr id="8" name="Rounded Rectangle 7"/>
          <p:cNvSpPr/>
          <p:nvPr/>
        </p:nvSpPr>
        <p:spPr>
          <a:xfrm>
            <a:off x="3401568" y="2520510"/>
            <a:ext cx="2670048" cy="141141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630168" y="2674619"/>
            <a:ext cx="457200" cy="45720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30168" y="3268980"/>
            <a:ext cx="2377440" cy="411480"/>
          </a:xfrm>
          <a:prstGeom prst="rect">
            <a:avLst/>
          </a:prstGeom>
          <a:noFill/>
        </p:spPr>
        <p:txBody>
          <a:bodyPr wrap="square" lIns="0" tIns="0" rIns="0" bIns="0" anchor="t">
            <a:spAutoFit/>
          </a:bodyPr>
          <a:lstStyle/>
          <a:p>
            <a:pPr algn="l">
              <a:spcAft>
                <a:spcPts val="200"/>
              </a:spcAft>
            </a:pPr>
            <a:r>
              <a:rPr sz="1600" b="1" i="0" dirty="0">
                <a:solidFill>
                  <a:srgbClr val="1F2433"/>
                </a:solidFill>
                <a:latin typeface="Google Sans"/>
              </a:rPr>
              <a:t>Metrics</a:t>
            </a:r>
          </a:p>
        </p:txBody>
      </p:sp>
      <p:sp>
        <p:nvSpPr>
          <p:cNvPr id="11" name="TextBox 10"/>
          <p:cNvSpPr txBox="1"/>
          <p:nvPr/>
        </p:nvSpPr>
        <p:spPr>
          <a:xfrm>
            <a:off x="3630168" y="3526350"/>
            <a:ext cx="2377440" cy="914400"/>
          </a:xfrm>
          <a:prstGeom prst="rect">
            <a:avLst/>
          </a:prstGeom>
          <a:noFill/>
        </p:spPr>
        <p:txBody>
          <a:bodyPr wrap="square" lIns="0" tIns="0" rIns="0" bIns="0" anchor="t">
            <a:spAutoFit/>
          </a:bodyPr>
          <a:lstStyle/>
          <a:p>
            <a:pPr algn="l">
              <a:spcAft>
                <a:spcPts val="200"/>
              </a:spcAft>
            </a:pPr>
            <a:r>
              <a:rPr sz="1200" b="0" i="0" dirty="0">
                <a:solidFill>
                  <a:srgbClr val="525B6E"/>
                </a:solidFill>
                <a:latin typeface="Roboto"/>
              </a:rPr>
              <a:t>SNR + PESQ-derived ODG</a:t>
            </a:r>
          </a:p>
        </p:txBody>
      </p:sp>
      <p:sp>
        <p:nvSpPr>
          <p:cNvPr id="12" name="Rounded Rectangle 11"/>
          <p:cNvSpPr/>
          <p:nvPr/>
        </p:nvSpPr>
        <p:spPr>
          <a:xfrm>
            <a:off x="6254496" y="2520510"/>
            <a:ext cx="2670048" cy="141141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83096" y="2674619"/>
            <a:ext cx="457200" cy="457200"/>
          </a:xfrm>
          <a:prstGeom prst="ellipse">
            <a:avLst/>
          </a:prstGeom>
          <a:solidFill>
            <a:srgbClr val="FBBC04"/>
          </a:solidFill>
          <a:ln>
            <a:noFill/>
          </a:ln>
          <a:effectLst>
            <a:outerShdw blurRad="25000" dist="6000" dir="2700000" rotWithShape="0">
              <a:srgbClr val="FBBC0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83096" y="3268980"/>
            <a:ext cx="2377440" cy="411480"/>
          </a:xfrm>
          <a:prstGeom prst="rect">
            <a:avLst/>
          </a:prstGeom>
          <a:noFill/>
        </p:spPr>
        <p:txBody>
          <a:bodyPr wrap="square" lIns="0" tIns="0" rIns="0" bIns="0" anchor="t">
            <a:spAutoFit/>
          </a:bodyPr>
          <a:lstStyle/>
          <a:p>
            <a:pPr algn="l">
              <a:spcAft>
                <a:spcPts val="200"/>
              </a:spcAft>
            </a:pPr>
            <a:r>
              <a:rPr sz="1600" b="1" i="0">
                <a:solidFill>
                  <a:srgbClr val="1F2433"/>
                </a:solidFill>
                <a:latin typeface="Google Sans"/>
              </a:rPr>
              <a:t>Spatial player</a:t>
            </a:r>
          </a:p>
        </p:txBody>
      </p:sp>
      <p:sp>
        <p:nvSpPr>
          <p:cNvPr id="15" name="TextBox 14"/>
          <p:cNvSpPr txBox="1"/>
          <p:nvPr/>
        </p:nvSpPr>
        <p:spPr>
          <a:xfrm>
            <a:off x="6483096" y="3526350"/>
            <a:ext cx="2377440" cy="914400"/>
          </a:xfrm>
          <a:prstGeom prst="rect">
            <a:avLst/>
          </a:prstGeom>
          <a:noFill/>
        </p:spPr>
        <p:txBody>
          <a:bodyPr wrap="square" lIns="0" tIns="0" rIns="0" bIns="0" anchor="t">
            <a:spAutoFit/>
          </a:bodyPr>
          <a:lstStyle/>
          <a:p>
            <a:pPr algn="l">
              <a:spcAft>
                <a:spcPts val="200"/>
              </a:spcAft>
            </a:pPr>
            <a:r>
              <a:rPr sz="1200" b="0" i="0">
                <a:solidFill>
                  <a:srgbClr val="525B6E"/>
                </a:solidFill>
                <a:latin typeface="Roboto"/>
              </a:rPr>
              <a:t>Web Audio API + HRTF</a:t>
            </a:r>
          </a:p>
        </p:txBody>
      </p:sp>
      <p:sp>
        <p:nvSpPr>
          <p:cNvPr id="16" name="Rounded Rectangle 15"/>
          <p:cNvSpPr/>
          <p:nvPr/>
        </p:nvSpPr>
        <p:spPr>
          <a:xfrm>
            <a:off x="9107424" y="2520510"/>
            <a:ext cx="2670048" cy="141141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336024" y="2674619"/>
            <a:ext cx="457200" cy="457200"/>
          </a:xfrm>
          <a:prstGeom prst="ellipse">
            <a:avLst/>
          </a:prstGeom>
          <a:solidFill>
            <a:srgbClr val="34A853"/>
          </a:solidFill>
          <a:ln>
            <a:noFill/>
          </a:ln>
          <a:effectLst>
            <a:outerShdw blurRad="25000" dist="6000" dir="2700000" rotWithShape="0">
              <a:srgbClr val="34A853">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36024" y="3268980"/>
            <a:ext cx="2377440" cy="411480"/>
          </a:xfrm>
          <a:prstGeom prst="rect">
            <a:avLst/>
          </a:prstGeom>
          <a:noFill/>
        </p:spPr>
        <p:txBody>
          <a:bodyPr wrap="square" lIns="0" tIns="0" rIns="0" bIns="0" anchor="t">
            <a:spAutoFit/>
          </a:bodyPr>
          <a:lstStyle/>
          <a:p>
            <a:pPr algn="l">
              <a:spcAft>
                <a:spcPts val="200"/>
              </a:spcAft>
            </a:pPr>
            <a:r>
              <a:rPr sz="1600" b="1" i="0">
                <a:solidFill>
                  <a:srgbClr val="1F2433"/>
                </a:solidFill>
                <a:latin typeface="Google Sans"/>
              </a:rPr>
              <a:t>Stress sim</a:t>
            </a:r>
          </a:p>
        </p:txBody>
      </p:sp>
      <p:sp>
        <p:nvSpPr>
          <p:cNvPr id="19" name="TextBox 18"/>
          <p:cNvSpPr txBox="1"/>
          <p:nvPr/>
        </p:nvSpPr>
        <p:spPr>
          <a:xfrm>
            <a:off x="9336024" y="3526350"/>
            <a:ext cx="2377440" cy="914400"/>
          </a:xfrm>
          <a:prstGeom prst="rect">
            <a:avLst/>
          </a:prstGeom>
          <a:noFill/>
        </p:spPr>
        <p:txBody>
          <a:bodyPr wrap="square" lIns="0" tIns="0" rIns="0" bIns="0" anchor="t">
            <a:spAutoFit/>
          </a:bodyPr>
          <a:lstStyle/>
          <a:p>
            <a:pPr algn="l">
              <a:spcAft>
                <a:spcPts val="200"/>
              </a:spcAft>
            </a:pPr>
            <a:r>
              <a:rPr sz="1200" b="0" i="0">
                <a:solidFill>
                  <a:srgbClr val="525B6E"/>
                </a:solidFill>
                <a:latin typeface="Roboto"/>
              </a:rPr>
              <a:t>Packet loss + jitter sliders</a:t>
            </a:r>
          </a:p>
        </p:txBody>
      </p:sp>
      <p:sp>
        <p:nvSpPr>
          <p:cNvPr id="20" name="Rounded Rectangle 19"/>
          <p:cNvSpPr/>
          <p:nvPr/>
        </p:nvSpPr>
        <p:spPr>
          <a:xfrm>
            <a:off x="548640" y="4206240"/>
            <a:ext cx="5486400" cy="1920240"/>
          </a:xfrm>
          <a:prstGeom prst="roundRect">
            <a:avLst>
              <a:gd name="adj" fmla="val 10000"/>
            </a:avLst>
          </a:prstGeom>
          <a:solidFill>
            <a:srgbClr val="EFF4FB"/>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4206240"/>
            <a:ext cx="70000" cy="1920240"/>
          </a:xfrm>
          <a:prstGeom prst="roundRect">
            <a:avLst>
              <a:gd name="adj" fmla="val 45000"/>
            </a:avLst>
          </a:prstGeom>
          <a:solidFill>
            <a:srgbClr val="4285F4"/>
          </a:solidFill>
          <a:ln>
            <a:noFill/>
          </a:ln>
          <a:effectLst>
            <a:outerShdw blurRad="20000" dist="4000" dir="2700000" rotWithShape="0">
              <a:srgbClr val="4285F4">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343400"/>
            <a:ext cx="5029200" cy="457200"/>
          </a:xfrm>
          <a:prstGeom prst="rect">
            <a:avLst/>
          </a:prstGeom>
          <a:noFill/>
        </p:spPr>
        <p:txBody>
          <a:bodyPr wrap="square" lIns="0" tIns="0" rIns="0" bIns="0" anchor="t">
            <a:spAutoFit/>
          </a:bodyPr>
          <a:lstStyle/>
          <a:p>
            <a:pPr algn="l">
              <a:spcAft>
                <a:spcPts val="200"/>
              </a:spcAft>
            </a:pPr>
            <a:r>
              <a:rPr sz="1800" b="1" i="0">
                <a:solidFill>
                  <a:srgbClr val="4285F4"/>
                </a:solidFill>
                <a:latin typeface="Google Sans"/>
              </a:rPr>
              <a:t>ABX listening test</a:t>
            </a:r>
          </a:p>
        </p:txBody>
      </p:sp>
      <p:sp>
        <p:nvSpPr>
          <p:cNvPr id="23" name="TextBox 22"/>
          <p:cNvSpPr txBox="1"/>
          <p:nvPr/>
        </p:nvSpPr>
        <p:spPr>
          <a:xfrm>
            <a:off x="868680" y="4800600"/>
            <a:ext cx="5029200" cy="1280160"/>
          </a:xfrm>
          <a:prstGeom prst="rect">
            <a:avLst/>
          </a:prstGeom>
          <a:noFill/>
        </p:spPr>
        <p:txBody>
          <a:bodyPr wrap="square" lIns="0" tIns="0" rIns="0" bIns="0" anchor="t">
            <a:spAutoFit/>
          </a:bodyPr>
          <a:lstStyle/>
          <a:p>
            <a:pPr algn="l">
              <a:spcAft>
                <a:spcPts val="200"/>
              </a:spcAft>
            </a:pPr>
            <a:r>
              <a:rPr sz="1300" b="0" i="0">
                <a:solidFill>
                  <a:srgbClr val="525B6E"/>
                </a:solidFill>
                <a:latin typeface="Roboto"/>
              </a:rPr>
              <a:t>Forced choice: A vs B vs X.
3 codecs × 5 bitrates × 5 reps = 75 trials.
Web interface; CSV log per participant.</a:t>
            </a:r>
          </a:p>
        </p:txBody>
      </p:sp>
      <p:sp>
        <p:nvSpPr>
          <p:cNvPr id="24" name="Rounded Rectangle 23"/>
          <p:cNvSpPr/>
          <p:nvPr/>
        </p:nvSpPr>
        <p:spPr>
          <a:xfrm>
            <a:off x="6400800" y="4206240"/>
            <a:ext cx="5212080" cy="1920240"/>
          </a:xfrm>
          <a:prstGeom prst="roundRect">
            <a:avLst>
              <a:gd name="adj" fmla="val 10000"/>
            </a:avLst>
          </a:prstGeom>
          <a:solidFill>
            <a:srgbClr val="F4F0EF"/>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400800" y="4206240"/>
            <a:ext cx="70000" cy="1920240"/>
          </a:xfrm>
          <a:prstGeom prst="roundRect">
            <a:avLst>
              <a:gd name="adj" fmla="val 45000"/>
            </a:avLst>
          </a:prstGeom>
          <a:solidFill>
            <a:srgbClr val="EA4335"/>
          </a:solidFill>
          <a:ln>
            <a:noFill/>
          </a:ln>
          <a:effectLst>
            <a:outerShdw blurRad="20000" dist="4000" dir="2700000" rotWithShape="0">
              <a:srgbClr val="EA4335">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20840" y="4343400"/>
            <a:ext cx="5029200" cy="457200"/>
          </a:xfrm>
          <a:prstGeom prst="rect">
            <a:avLst/>
          </a:prstGeom>
          <a:noFill/>
        </p:spPr>
        <p:txBody>
          <a:bodyPr wrap="square" lIns="0" tIns="0" rIns="0" bIns="0" anchor="t">
            <a:spAutoFit/>
          </a:bodyPr>
          <a:lstStyle/>
          <a:p>
            <a:pPr algn="l">
              <a:spcAft>
                <a:spcPts val="200"/>
              </a:spcAft>
            </a:pPr>
            <a:r>
              <a:rPr sz="1800" b="1" i="0">
                <a:solidFill>
                  <a:srgbClr val="EA4335"/>
                </a:solidFill>
                <a:latin typeface="Google Sans"/>
              </a:rPr>
              <a:t>Stress design</a:t>
            </a:r>
          </a:p>
        </p:txBody>
      </p:sp>
      <p:sp>
        <p:nvSpPr>
          <p:cNvPr id="27" name="TextBox 26"/>
          <p:cNvSpPr txBox="1"/>
          <p:nvPr/>
        </p:nvSpPr>
        <p:spPr>
          <a:xfrm>
            <a:off x="6720840" y="4800600"/>
            <a:ext cx="5029200" cy="1280160"/>
          </a:xfrm>
          <a:prstGeom prst="rect">
            <a:avLst/>
          </a:prstGeom>
          <a:noFill/>
        </p:spPr>
        <p:txBody>
          <a:bodyPr wrap="square" lIns="0" tIns="0" rIns="0" bIns="0" anchor="t">
            <a:spAutoFit/>
          </a:bodyPr>
          <a:lstStyle/>
          <a:p>
            <a:pPr algn="l">
              <a:spcAft>
                <a:spcPts val="200"/>
              </a:spcAft>
            </a:pPr>
            <a:r>
              <a:rPr sz="1300" b="0" i="0">
                <a:solidFill>
                  <a:srgbClr val="525B6E"/>
                </a:solidFill>
                <a:latin typeface="Roboto"/>
              </a:rPr>
              <a:t>Loss: 0–20 % · Jitter: 0–200 ms.
Mono / Stereo / HRTF compared.
Metric = Immersion Degradation Index.</a:t>
            </a:r>
          </a:p>
        </p:txBody>
      </p:sp>
      <p:sp>
        <p:nvSpPr>
          <p:cNvPr id="28" name="TextBox 27"/>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30" name="TextBox 29">
            <a:extLst>
              <a:ext uri="{FF2B5EF4-FFF2-40B4-BE49-F238E27FC236}">
                <a16:creationId xmlns:a16="http://schemas.microsoft.com/office/drawing/2014/main" id="{5880E908-00DD-2E57-9E53-4B39B3E8015B}"/>
              </a:ext>
            </a:extLst>
          </p:cNvPr>
          <p:cNvSpPr txBox="1"/>
          <p:nvPr/>
        </p:nvSpPr>
        <p:spPr>
          <a:xfrm>
            <a:off x="10561320" y="6620256"/>
            <a:ext cx="1554480" cy="153888"/>
          </a:xfrm>
          <a:prstGeom prst="rect">
            <a:avLst/>
          </a:prstGeom>
          <a:noFill/>
        </p:spPr>
        <p:txBody>
          <a:bodyPr wrap="square" lIns="0" tIns="0" rIns="0" bIns="0" anchor="t">
            <a:spAutoFit/>
          </a:bodyPr>
          <a:lstStyle/>
          <a:p>
            <a:pPr algn="r">
              <a:spcAft>
                <a:spcPts val="200"/>
              </a:spcAft>
            </a:pPr>
            <a:r>
              <a:rPr lang="en-US" sz="1000" b="0" i="0" dirty="0">
                <a:solidFill>
                  <a:srgbClr val="8C96A8"/>
                </a:solidFill>
                <a:latin typeface="Roboto"/>
              </a:rPr>
              <a:t>4</a:t>
            </a:r>
            <a:r>
              <a:rPr sz="1000" b="0" i="0" dirty="0">
                <a:solidFill>
                  <a:srgbClr val="8C96A8"/>
                </a:solidFill>
                <a:latin typeface="Roboto"/>
              </a:rPr>
              <a:t> / 10</a:t>
            </a:r>
          </a:p>
        </p:txBody>
      </p:sp>
      <p:pic>
        <p:nvPicPr>
          <p:cNvPr id="31" name="Picture 30">
            <a:extLst>
              <a:ext uri="{FF2B5EF4-FFF2-40B4-BE49-F238E27FC236}">
                <a16:creationId xmlns:a16="http://schemas.microsoft.com/office/drawing/2014/main" id="{74F03C0A-F731-2526-A154-0213379BAB11}"/>
              </a:ext>
            </a:extLst>
          </p:cNvPr>
          <p:cNvPicPr>
            <a:picLocks noChangeAspect="1"/>
          </p:cNvPicPr>
          <p:nvPr/>
        </p:nvPicPr>
        <p:blipFill>
          <a:blip r:embed="rId3"/>
          <a:srcRect t="7443" b="7443"/>
          <a:stretch/>
        </p:blipFill>
        <p:spPr>
          <a:xfrm>
            <a:off x="6711696" y="258154"/>
            <a:ext cx="4002607" cy="20751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640080"/>
          </a:xfrm>
          <a:prstGeom prst="rect">
            <a:avLst/>
          </a:prstGeom>
          <a:noFill/>
        </p:spPr>
        <p:txBody>
          <a:bodyPr wrap="square" lIns="0" tIns="0" rIns="0" bIns="0" anchor="t">
            <a:spAutoFit/>
          </a:bodyPr>
          <a:lstStyle/>
          <a:p>
            <a:pPr algn="l">
              <a:spcAft>
                <a:spcPts val="200"/>
              </a:spcAft>
            </a:pPr>
            <a:r>
              <a:rPr sz="3200" b="1" i="0">
                <a:solidFill>
                  <a:srgbClr val="1F2433"/>
                </a:solidFill>
                <a:latin typeface="Google Sans"/>
              </a:rPr>
              <a:t>Codec Comparison Results</a:t>
            </a:r>
          </a:p>
        </p:txBody>
      </p:sp>
      <p:sp>
        <p:nvSpPr>
          <p:cNvPr id="3" name="TextBox 2"/>
          <p:cNvSpPr txBox="1"/>
          <p:nvPr/>
        </p:nvSpPr>
        <p:spPr>
          <a:xfrm>
            <a:off x="548640" y="960120"/>
            <a:ext cx="10058400" cy="365760"/>
          </a:xfrm>
          <a:prstGeom prst="rect">
            <a:avLst/>
          </a:prstGeom>
          <a:noFill/>
        </p:spPr>
        <p:txBody>
          <a:bodyPr wrap="square" lIns="0" tIns="0" rIns="0" bIns="0" anchor="t">
            <a:spAutoFit/>
          </a:bodyPr>
          <a:lstStyle/>
          <a:p>
            <a:pPr algn="l">
              <a:spcAft>
                <a:spcPts val="200"/>
              </a:spcAft>
            </a:pPr>
            <a:r>
              <a:rPr sz="1300" b="0" i="1">
                <a:solidFill>
                  <a:srgbClr val="525B6E"/>
                </a:solidFill>
                <a:latin typeface="Roboto"/>
              </a:rPr>
              <a:t>Rate–distortion: SNR misleads, ODG tells the truth</a:t>
            </a:r>
          </a:p>
        </p:txBody>
      </p:sp>
      <p:sp>
        <p:nvSpPr>
          <p:cNvPr id="4" name="Rounded Rectangle 3"/>
          <p:cNvSpPr/>
          <p:nvPr/>
        </p:nvSpPr>
        <p:spPr>
          <a:xfrm>
            <a:off x="548640" y="1837944"/>
            <a:ext cx="6268260" cy="3831336"/>
          </a:xfrm>
          <a:prstGeom prst="roundRect">
            <a:avLst>
              <a:gd name="adj" fmla="val 10000"/>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ounded Rectangle 6"/>
          <p:cNvSpPr/>
          <p:nvPr/>
        </p:nvSpPr>
        <p:spPr>
          <a:xfrm>
            <a:off x="7178040" y="1554480"/>
            <a:ext cx="4434840" cy="137160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178040" y="1554480"/>
            <a:ext cx="164592" cy="1371600"/>
          </a:xfrm>
          <a:prstGeom prst="roundRect">
            <a:avLst>
              <a:gd name="adj" fmla="val 50000"/>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79" y="1901952"/>
            <a:ext cx="4114800" cy="777240"/>
          </a:xfrm>
          <a:prstGeom prst="rect">
            <a:avLst/>
          </a:prstGeom>
          <a:noFill/>
        </p:spPr>
        <p:txBody>
          <a:bodyPr wrap="square" lIns="0" tIns="0" rIns="0" bIns="0" anchor="t">
            <a:spAutoFit/>
          </a:bodyPr>
          <a:lstStyle/>
          <a:p>
            <a:pPr algn="l">
              <a:spcAft>
                <a:spcPts val="200"/>
              </a:spcAft>
            </a:pPr>
            <a:r>
              <a:rPr sz="3200" b="1" i="0" dirty="0">
                <a:solidFill>
                  <a:srgbClr val="1F2433"/>
                </a:solidFill>
                <a:latin typeface="Google Sans"/>
              </a:rPr>
              <a:t>48 kbps</a:t>
            </a:r>
          </a:p>
        </p:txBody>
      </p:sp>
      <p:sp>
        <p:nvSpPr>
          <p:cNvPr id="10" name="TextBox 9"/>
          <p:cNvSpPr txBox="1"/>
          <p:nvPr/>
        </p:nvSpPr>
        <p:spPr>
          <a:xfrm>
            <a:off x="7498079" y="2395728"/>
            <a:ext cx="4114800" cy="411480"/>
          </a:xfrm>
          <a:prstGeom prst="rect">
            <a:avLst/>
          </a:prstGeom>
          <a:noFill/>
        </p:spPr>
        <p:txBody>
          <a:bodyPr wrap="square" lIns="0" tIns="0" rIns="0" bIns="0" anchor="t">
            <a:spAutoFit/>
          </a:bodyPr>
          <a:lstStyle/>
          <a:p>
            <a:pPr algn="l">
              <a:spcAft>
                <a:spcPts val="200"/>
              </a:spcAft>
            </a:pPr>
            <a:r>
              <a:rPr sz="1200" b="0" i="0" dirty="0">
                <a:solidFill>
                  <a:srgbClr val="525B6E"/>
                </a:solidFill>
                <a:latin typeface="Roboto"/>
              </a:rPr>
              <a:t>Opus transparency (pilot)</a:t>
            </a:r>
          </a:p>
        </p:txBody>
      </p:sp>
      <p:sp>
        <p:nvSpPr>
          <p:cNvPr id="11" name="Rounded Rectangle 10"/>
          <p:cNvSpPr/>
          <p:nvPr/>
        </p:nvSpPr>
        <p:spPr>
          <a:xfrm>
            <a:off x="7178040" y="3017520"/>
            <a:ext cx="4434840" cy="137160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178040" y="3017520"/>
            <a:ext cx="164592" cy="1371600"/>
          </a:xfrm>
          <a:prstGeom prst="roundRect">
            <a:avLst>
              <a:gd name="adj" fmla="val 50000"/>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3364992"/>
            <a:ext cx="4114800" cy="777240"/>
          </a:xfrm>
          <a:prstGeom prst="rect">
            <a:avLst/>
          </a:prstGeom>
          <a:noFill/>
        </p:spPr>
        <p:txBody>
          <a:bodyPr wrap="square" lIns="0" tIns="0" rIns="0" bIns="0" anchor="t">
            <a:spAutoFit/>
          </a:bodyPr>
          <a:lstStyle/>
          <a:p>
            <a:pPr algn="l">
              <a:spcAft>
                <a:spcPts val="200"/>
              </a:spcAft>
            </a:pPr>
            <a:r>
              <a:rPr sz="3200" b="1" i="0" dirty="0">
                <a:solidFill>
                  <a:srgbClr val="1F2433"/>
                </a:solidFill>
                <a:latin typeface="Google Sans"/>
              </a:rPr>
              <a:t>64 kbps</a:t>
            </a:r>
          </a:p>
        </p:txBody>
      </p:sp>
      <p:sp>
        <p:nvSpPr>
          <p:cNvPr id="14" name="TextBox 13"/>
          <p:cNvSpPr txBox="1"/>
          <p:nvPr/>
        </p:nvSpPr>
        <p:spPr>
          <a:xfrm>
            <a:off x="7498079" y="3858768"/>
            <a:ext cx="4114800" cy="411480"/>
          </a:xfrm>
          <a:prstGeom prst="rect">
            <a:avLst/>
          </a:prstGeom>
          <a:noFill/>
        </p:spPr>
        <p:txBody>
          <a:bodyPr wrap="square" lIns="0" tIns="0" rIns="0" bIns="0" anchor="t">
            <a:spAutoFit/>
          </a:bodyPr>
          <a:lstStyle/>
          <a:p>
            <a:pPr algn="l">
              <a:spcAft>
                <a:spcPts val="200"/>
              </a:spcAft>
            </a:pPr>
            <a:r>
              <a:rPr sz="1200" b="0" i="0">
                <a:solidFill>
                  <a:srgbClr val="525B6E"/>
                </a:solidFill>
                <a:latin typeface="Roboto"/>
              </a:rPr>
              <a:t>MP3 / AAC transparency</a:t>
            </a:r>
          </a:p>
        </p:txBody>
      </p:sp>
      <p:sp>
        <p:nvSpPr>
          <p:cNvPr id="15" name="Rounded Rectangle 14"/>
          <p:cNvSpPr/>
          <p:nvPr/>
        </p:nvSpPr>
        <p:spPr>
          <a:xfrm>
            <a:off x="7178040" y="4480560"/>
            <a:ext cx="4434840" cy="137160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178040" y="4480560"/>
            <a:ext cx="164592" cy="1371600"/>
          </a:xfrm>
          <a:prstGeom prst="roundRect">
            <a:avLst>
              <a:gd name="adj" fmla="val 50000"/>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79" y="4828032"/>
            <a:ext cx="4114800" cy="777240"/>
          </a:xfrm>
          <a:prstGeom prst="rect">
            <a:avLst/>
          </a:prstGeom>
          <a:noFill/>
        </p:spPr>
        <p:txBody>
          <a:bodyPr wrap="square" lIns="0" tIns="0" rIns="0" bIns="0" anchor="t">
            <a:spAutoFit/>
          </a:bodyPr>
          <a:lstStyle/>
          <a:p>
            <a:pPr algn="l">
              <a:spcAft>
                <a:spcPts val="200"/>
              </a:spcAft>
            </a:pPr>
            <a:r>
              <a:rPr sz="3200" b="1" i="0" dirty="0">
                <a:solidFill>
                  <a:srgbClr val="1F2433"/>
                </a:solidFill>
                <a:latin typeface="Google Sans"/>
              </a:rPr>
              <a:t>≈ 20 </a:t>
            </a:r>
            <a:r>
              <a:rPr sz="3200" b="1" i="0" dirty="0" err="1">
                <a:solidFill>
                  <a:srgbClr val="1F2433"/>
                </a:solidFill>
                <a:latin typeface="Google Sans"/>
              </a:rPr>
              <a:t>ms</a:t>
            </a:r>
            <a:endParaRPr sz="3200" b="1" i="0" dirty="0">
              <a:solidFill>
                <a:srgbClr val="1F2433"/>
              </a:solidFill>
              <a:latin typeface="Google Sans"/>
            </a:endParaRPr>
          </a:p>
        </p:txBody>
      </p:sp>
      <p:sp>
        <p:nvSpPr>
          <p:cNvPr id="18" name="TextBox 17"/>
          <p:cNvSpPr txBox="1"/>
          <p:nvPr/>
        </p:nvSpPr>
        <p:spPr>
          <a:xfrm>
            <a:off x="7498079" y="5321808"/>
            <a:ext cx="4114800" cy="411480"/>
          </a:xfrm>
          <a:prstGeom prst="rect">
            <a:avLst/>
          </a:prstGeom>
          <a:noFill/>
        </p:spPr>
        <p:txBody>
          <a:bodyPr wrap="square" lIns="0" tIns="0" rIns="0" bIns="0" anchor="t">
            <a:spAutoFit/>
          </a:bodyPr>
          <a:lstStyle/>
          <a:p>
            <a:pPr algn="l">
              <a:spcAft>
                <a:spcPts val="200"/>
              </a:spcAft>
            </a:pPr>
            <a:r>
              <a:rPr sz="1200" b="0" i="0">
                <a:solidFill>
                  <a:srgbClr val="525B6E"/>
                </a:solidFill>
                <a:latin typeface="Roboto"/>
              </a:rPr>
              <a:t>Opus algorithmic delay</a:t>
            </a:r>
          </a:p>
        </p:txBody>
      </p:sp>
      <p:sp>
        <p:nvSpPr>
          <p:cNvPr id="19" name="TextBox 18"/>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21" name="TextBox 20">
            <a:extLst>
              <a:ext uri="{FF2B5EF4-FFF2-40B4-BE49-F238E27FC236}">
                <a16:creationId xmlns:a16="http://schemas.microsoft.com/office/drawing/2014/main" id="{6664F3E8-DB60-1D53-4603-CCDB50C9A2AC}"/>
              </a:ext>
            </a:extLst>
          </p:cNvPr>
          <p:cNvSpPr txBox="1"/>
          <p:nvPr/>
        </p:nvSpPr>
        <p:spPr>
          <a:xfrm>
            <a:off x="10561320" y="6620256"/>
            <a:ext cx="1554480" cy="153888"/>
          </a:xfrm>
          <a:prstGeom prst="rect">
            <a:avLst/>
          </a:prstGeom>
          <a:noFill/>
        </p:spPr>
        <p:txBody>
          <a:bodyPr wrap="square" lIns="0" tIns="0" rIns="0" bIns="0" anchor="t">
            <a:spAutoFit/>
          </a:bodyPr>
          <a:lstStyle/>
          <a:p>
            <a:pPr algn="r">
              <a:spcAft>
                <a:spcPts val="200"/>
              </a:spcAft>
            </a:pPr>
            <a:r>
              <a:rPr lang="en-US" sz="1000" b="0" i="0" dirty="0">
                <a:solidFill>
                  <a:srgbClr val="8C96A8"/>
                </a:solidFill>
                <a:latin typeface="Roboto"/>
              </a:rPr>
              <a:t>5</a:t>
            </a:r>
            <a:r>
              <a:rPr sz="1000" b="0" i="0" dirty="0">
                <a:solidFill>
                  <a:srgbClr val="8C96A8"/>
                </a:solidFill>
                <a:latin typeface="Roboto"/>
              </a:rPr>
              <a:t>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640080"/>
          </a:xfrm>
          <a:prstGeom prst="rect">
            <a:avLst/>
          </a:prstGeom>
          <a:noFill/>
        </p:spPr>
        <p:txBody>
          <a:bodyPr wrap="square" lIns="0" tIns="0" rIns="0" bIns="0" anchor="t">
            <a:spAutoFit/>
          </a:bodyPr>
          <a:lstStyle/>
          <a:p>
            <a:pPr algn="l">
              <a:spcAft>
                <a:spcPts val="200"/>
              </a:spcAft>
            </a:pPr>
            <a:r>
              <a:rPr sz="3200" b="1" i="0">
                <a:solidFill>
                  <a:srgbClr val="1F2433"/>
                </a:solidFill>
                <a:latin typeface="Google Sans"/>
              </a:rPr>
              <a:t>ABX Test &amp; Transparency</a:t>
            </a:r>
          </a:p>
        </p:txBody>
      </p:sp>
      <p:sp>
        <p:nvSpPr>
          <p:cNvPr id="3" name="TextBox 2"/>
          <p:cNvSpPr txBox="1"/>
          <p:nvPr/>
        </p:nvSpPr>
        <p:spPr>
          <a:xfrm>
            <a:off x="548640" y="960120"/>
            <a:ext cx="10058400" cy="365760"/>
          </a:xfrm>
          <a:prstGeom prst="rect">
            <a:avLst/>
          </a:prstGeom>
          <a:noFill/>
        </p:spPr>
        <p:txBody>
          <a:bodyPr wrap="square" lIns="0" tIns="0" rIns="0" bIns="0" anchor="t">
            <a:spAutoFit/>
          </a:bodyPr>
          <a:lstStyle/>
          <a:p>
            <a:pPr algn="l">
              <a:spcAft>
                <a:spcPts val="200"/>
              </a:spcAft>
            </a:pPr>
            <a:r>
              <a:rPr sz="1300" b="0" i="1">
                <a:solidFill>
                  <a:srgbClr val="525B6E"/>
                </a:solidFill>
                <a:latin typeface="Roboto"/>
              </a:rPr>
              <a:t>Pilot data — full cohort study in progress</a:t>
            </a:r>
          </a:p>
        </p:txBody>
      </p:sp>
      <p:sp>
        <p:nvSpPr>
          <p:cNvPr id="4" name="Rounded Rectangle 3"/>
          <p:cNvSpPr/>
          <p:nvPr/>
        </p:nvSpPr>
        <p:spPr>
          <a:xfrm>
            <a:off x="548640" y="2331720"/>
            <a:ext cx="11064240" cy="219456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 y="2468880"/>
            <a:ext cx="2743200" cy="365760"/>
          </a:xfrm>
          <a:prstGeom prst="rect">
            <a:avLst/>
          </a:prstGeom>
          <a:noFill/>
        </p:spPr>
        <p:txBody>
          <a:bodyPr wrap="square" lIns="0" tIns="0" rIns="0" bIns="0" anchor="t">
            <a:spAutoFit/>
          </a:bodyPr>
          <a:lstStyle/>
          <a:p>
            <a:pPr algn="l">
              <a:spcAft>
                <a:spcPts val="200"/>
              </a:spcAft>
            </a:pPr>
            <a:r>
              <a:rPr sz="1200" b="1" i="0" dirty="0">
                <a:solidFill>
                  <a:srgbClr val="8C96A8"/>
                </a:solidFill>
                <a:latin typeface="Google Sans"/>
              </a:rPr>
              <a:t>Codec</a:t>
            </a:r>
          </a:p>
        </p:txBody>
      </p:sp>
      <p:sp>
        <p:nvSpPr>
          <p:cNvPr id="6" name="TextBox 5"/>
          <p:cNvSpPr txBox="1"/>
          <p:nvPr/>
        </p:nvSpPr>
        <p:spPr>
          <a:xfrm>
            <a:off x="3291840" y="2468880"/>
            <a:ext cx="2743200" cy="365760"/>
          </a:xfrm>
          <a:prstGeom prst="rect">
            <a:avLst/>
          </a:prstGeom>
          <a:noFill/>
        </p:spPr>
        <p:txBody>
          <a:bodyPr wrap="square" lIns="0" tIns="0" rIns="0" bIns="0" anchor="t">
            <a:spAutoFit/>
          </a:bodyPr>
          <a:lstStyle/>
          <a:p>
            <a:pPr algn="l">
              <a:spcAft>
                <a:spcPts val="200"/>
              </a:spcAft>
            </a:pPr>
            <a:r>
              <a:rPr sz="1200" b="1" i="0">
                <a:solidFill>
                  <a:srgbClr val="8C96A8"/>
                </a:solidFill>
                <a:latin typeface="Google Sans"/>
              </a:rPr>
              <a:t>Transparency bitrate</a:t>
            </a:r>
          </a:p>
        </p:txBody>
      </p:sp>
      <p:sp>
        <p:nvSpPr>
          <p:cNvPr id="7" name="TextBox 6"/>
          <p:cNvSpPr txBox="1"/>
          <p:nvPr/>
        </p:nvSpPr>
        <p:spPr>
          <a:xfrm>
            <a:off x="5852160" y="2468880"/>
            <a:ext cx="2743200" cy="365760"/>
          </a:xfrm>
          <a:prstGeom prst="rect">
            <a:avLst/>
          </a:prstGeom>
          <a:noFill/>
        </p:spPr>
        <p:txBody>
          <a:bodyPr wrap="square" lIns="0" tIns="0" rIns="0" bIns="0" anchor="t">
            <a:spAutoFit/>
          </a:bodyPr>
          <a:lstStyle/>
          <a:p>
            <a:pPr algn="l">
              <a:spcAft>
                <a:spcPts val="200"/>
              </a:spcAft>
            </a:pPr>
            <a:r>
              <a:rPr sz="1200" b="1" i="0">
                <a:solidFill>
                  <a:srgbClr val="8C96A8"/>
                </a:solidFill>
                <a:latin typeface="Google Sans"/>
              </a:rPr>
              <a:t>ABX accuracy at threshold</a:t>
            </a:r>
          </a:p>
        </p:txBody>
      </p:sp>
      <p:sp>
        <p:nvSpPr>
          <p:cNvPr id="8" name="TextBox 7"/>
          <p:cNvSpPr txBox="1"/>
          <p:nvPr/>
        </p:nvSpPr>
        <p:spPr>
          <a:xfrm>
            <a:off x="8595360" y="2468880"/>
            <a:ext cx="2743200" cy="365760"/>
          </a:xfrm>
          <a:prstGeom prst="rect">
            <a:avLst/>
          </a:prstGeom>
          <a:noFill/>
        </p:spPr>
        <p:txBody>
          <a:bodyPr wrap="square" lIns="0" tIns="0" rIns="0" bIns="0" anchor="t">
            <a:spAutoFit/>
          </a:bodyPr>
          <a:lstStyle/>
          <a:p>
            <a:pPr algn="l">
              <a:spcAft>
                <a:spcPts val="200"/>
              </a:spcAft>
            </a:pPr>
            <a:r>
              <a:rPr sz="1200" b="1" i="0">
                <a:solidFill>
                  <a:srgbClr val="8C96A8"/>
                </a:solidFill>
                <a:latin typeface="Google Sans"/>
              </a:rPr>
              <a:t>MOS at threshold</a:t>
            </a:r>
          </a:p>
        </p:txBody>
      </p:sp>
      <p:sp>
        <p:nvSpPr>
          <p:cNvPr id="9" name="Rounded Rectangle 8"/>
          <p:cNvSpPr/>
          <p:nvPr/>
        </p:nvSpPr>
        <p:spPr>
          <a:xfrm>
            <a:off x="914400" y="2880360"/>
            <a:ext cx="914400" cy="457200"/>
          </a:xfrm>
          <a:prstGeom prst="roundRect">
            <a:avLst>
              <a:gd name="adj" fmla="val 50000"/>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Google Sans"/>
              </a:rPr>
              <a:t>MP3</a:t>
            </a:r>
          </a:p>
        </p:txBody>
      </p:sp>
      <p:sp>
        <p:nvSpPr>
          <p:cNvPr id="10" name="TextBox 9"/>
          <p:cNvSpPr txBox="1"/>
          <p:nvPr/>
        </p:nvSpPr>
        <p:spPr>
          <a:xfrm>
            <a:off x="3291840" y="2926080"/>
            <a:ext cx="27432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 64 kbps</a:t>
            </a:r>
          </a:p>
        </p:txBody>
      </p:sp>
      <p:sp>
        <p:nvSpPr>
          <p:cNvPr id="11" name="TextBox 10"/>
          <p:cNvSpPr txBox="1"/>
          <p:nvPr/>
        </p:nvSpPr>
        <p:spPr>
          <a:xfrm>
            <a:off x="5852160" y="2926080"/>
            <a:ext cx="27432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54 % (≈ chance)</a:t>
            </a:r>
          </a:p>
        </p:txBody>
      </p:sp>
      <p:sp>
        <p:nvSpPr>
          <p:cNvPr id="12" name="TextBox 11"/>
          <p:cNvSpPr txBox="1"/>
          <p:nvPr/>
        </p:nvSpPr>
        <p:spPr>
          <a:xfrm>
            <a:off x="8595360" y="2926080"/>
            <a:ext cx="27432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MOS 4.3</a:t>
            </a:r>
          </a:p>
        </p:txBody>
      </p:sp>
      <p:sp>
        <p:nvSpPr>
          <p:cNvPr id="13" name="Rounded Rectangle 12"/>
          <p:cNvSpPr/>
          <p:nvPr/>
        </p:nvSpPr>
        <p:spPr>
          <a:xfrm>
            <a:off x="914400" y="3383280"/>
            <a:ext cx="914400" cy="457200"/>
          </a:xfrm>
          <a:prstGeom prst="roundRect">
            <a:avLst>
              <a:gd name="adj" fmla="val 50000"/>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Google Sans"/>
              </a:rPr>
              <a:t>AAC</a:t>
            </a:r>
          </a:p>
        </p:txBody>
      </p:sp>
      <p:sp>
        <p:nvSpPr>
          <p:cNvPr id="14" name="TextBox 13"/>
          <p:cNvSpPr txBox="1"/>
          <p:nvPr/>
        </p:nvSpPr>
        <p:spPr>
          <a:xfrm>
            <a:off x="3291840" y="3429000"/>
            <a:ext cx="27432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 64 kbps</a:t>
            </a:r>
          </a:p>
        </p:txBody>
      </p:sp>
      <p:sp>
        <p:nvSpPr>
          <p:cNvPr id="15" name="TextBox 14"/>
          <p:cNvSpPr txBox="1"/>
          <p:nvPr/>
        </p:nvSpPr>
        <p:spPr>
          <a:xfrm>
            <a:off x="5852160" y="3429000"/>
            <a:ext cx="27432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53 % (≈ chance)</a:t>
            </a:r>
          </a:p>
        </p:txBody>
      </p:sp>
      <p:sp>
        <p:nvSpPr>
          <p:cNvPr id="16" name="TextBox 15"/>
          <p:cNvSpPr txBox="1"/>
          <p:nvPr/>
        </p:nvSpPr>
        <p:spPr>
          <a:xfrm>
            <a:off x="8595360" y="3429000"/>
            <a:ext cx="27432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MOS 4.4</a:t>
            </a:r>
          </a:p>
        </p:txBody>
      </p:sp>
      <p:sp>
        <p:nvSpPr>
          <p:cNvPr id="17" name="Rounded Rectangle 16"/>
          <p:cNvSpPr/>
          <p:nvPr/>
        </p:nvSpPr>
        <p:spPr>
          <a:xfrm>
            <a:off x="914400" y="3886200"/>
            <a:ext cx="914400" cy="457200"/>
          </a:xfrm>
          <a:prstGeom prst="roundRect">
            <a:avLst>
              <a:gd name="adj" fmla="val 50000"/>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Google Sans"/>
              </a:rPr>
              <a:t>Opus</a:t>
            </a:r>
          </a:p>
        </p:txBody>
      </p:sp>
      <p:sp>
        <p:nvSpPr>
          <p:cNvPr id="18" name="TextBox 17"/>
          <p:cNvSpPr txBox="1"/>
          <p:nvPr/>
        </p:nvSpPr>
        <p:spPr>
          <a:xfrm>
            <a:off x="3291840" y="3931920"/>
            <a:ext cx="27432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 48 kbps</a:t>
            </a:r>
          </a:p>
        </p:txBody>
      </p:sp>
      <p:sp>
        <p:nvSpPr>
          <p:cNvPr id="19" name="TextBox 18"/>
          <p:cNvSpPr txBox="1"/>
          <p:nvPr/>
        </p:nvSpPr>
        <p:spPr>
          <a:xfrm>
            <a:off x="5852160" y="3931920"/>
            <a:ext cx="27432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52 % (≈ chance)</a:t>
            </a:r>
          </a:p>
        </p:txBody>
      </p:sp>
      <p:sp>
        <p:nvSpPr>
          <p:cNvPr id="20" name="TextBox 19"/>
          <p:cNvSpPr txBox="1"/>
          <p:nvPr/>
        </p:nvSpPr>
        <p:spPr>
          <a:xfrm>
            <a:off x="8595360" y="3931920"/>
            <a:ext cx="27432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MOS 4.5</a:t>
            </a:r>
          </a:p>
        </p:txBody>
      </p:sp>
      <p:sp>
        <p:nvSpPr>
          <p:cNvPr id="21" name="Rounded Rectangle 20"/>
          <p:cNvSpPr/>
          <p:nvPr/>
        </p:nvSpPr>
        <p:spPr>
          <a:xfrm>
            <a:off x="548640" y="4696896"/>
            <a:ext cx="11064240" cy="1429583"/>
          </a:xfrm>
          <a:prstGeom prst="roundRect">
            <a:avLst>
              <a:gd name="adj" fmla="val 10000"/>
            </a:avLst>
          </a:prstGeom>
          <a:solidFill>
            <a:srgbClr val="EFF4FB"/>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48640" y="4696896"/>
            <a:ext cx="70000" cy="1429583"/>
          </a:xfrm>
          <a:prstGeom prst="roundRect">
            <a:avLst>
              <a:gd name="adj" fmla="val 45000"/>
            </a:avLst>
          </a:prstGeom>
          <a:solidFill>
            <a:srgbClr val="4285F4"/>
          </a:solidFill>
          <a:ln>
            <a:noFill/>
          </a:ln>
          <a:effectLst>
            <a:outerShdw blurRad="20000" dist="4000" dir="2700000" rotWithShape="0">
              <a:srgbClr val="4285F4">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995743"/>
            <a:ext cx="10058400" cy="307777"/>
          </a:xfrm>
          <a:prstGeom prst="rect">
            <a:avLst/>
          </a:prstGeom>
          <a:noFill/>
        </p:spPr>
        <p:txBody>
          <a:bodyPr wrap="square" lIns="0" tIns="0" rIns="0" bIns="0" anchor="t">
            <a:spAutoFit/>
          </a:bodyPr>
          <a:lstStyle/>
          <a:p>
            <a:pPr algn="l">
              <a:spcAft>
                <a:spcPts val="200"/>
              </a:spcAft>
            </a:pPr>
            <a:r>
              <a:rPr sz="2000" b="1" i="0" dirty="0">
                <a:solidFill>
                  <a:srgbClr val="4285F4"/>
                </a:solidFill>
                <a:latin typeface="Google Sans"/>
              </a:rPr>
              <a:t>Takeaway</a:t>
            </a:r>
          </a:p>
        </p:txBody>
      </p:sp>
      <p:sp>
        <p:nvSpPr>
          <p:cNvPr id="24" name="TextBox 23"/>
          <p:cNvSpPr txBox="1"/>
          <p:nvPr/>
        </p:nvSpPr>
        <p:spPr>
          <a:xfrm>
            <a:off x="914400" y="5361503"/>
            <a:ext cx="10515600" cy="1554480"/>
          </a:xfrm>
          <a:prstGeom prst="rect">
            <a:avLst/>
          </a:prstGeom>
          <a:noFill/>
        </p:spPr>
        <p:txBody>
          <a:bodyPr wrap="square" lIns="0" tIns="0" rIns="0" bIns="0" anchor="t">
            <a:spAutoFit/>
          </a:bodyPr>
          <a:lstStyle/>
          <a:p>
            <a:pPr algn="l">
              <a:spcAft>
                <a:spcPts val="200"/>
              </a:spcAft>
            </a:pPr>
            <a:r>
              <a:rPr sz="1800" b="0" i="0" dirty="0">
                <a:solidFill>
                  <a:srgbClr val="1F2433"/>
                </a:solidFill>
                <a:latin typeface="Google Sans"/>
              </a:rPr>
              <a:t>Opus reaches transparency roughly 1.3× faster than MP3/AAC.
All three converge on near-chance discrimination at 64 kbps and above.</a:t>
            </a:r>
          </a:p>
        </p:txBody>
      </p:sp>
      <p:sp>
        <p:nvSpPr>
          <p:cNvPr id="25" name="TextBox 24"/>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27" name="TextBox 26">
            <a:extLst>
              <a:ext uri="{FF2B5EF4-FFF2-40B4-BE49-F238E27FC236}">
                <a16:creationId xmlns:a16="http://schemas.microsoft.com/office/drawing/2014/main" id="{C834F7FE-DEFE-E939-8736-718D53C84AA6}"/>
              </a:ext>
            </a:extLst>
          </p:cNvPr>
          <p:cNvSpPr txBox="1"/>
          <p:nvPr/>
        </p:nvSpPr>
        <p:spPr>
          <a:xfrm>
            <a:off x="10561320" y="6620256"/>
            <a:ext cx="1554480" cy="153888"/>
          </a:xfrm>
          <a:prstGeom prst="rect">
            <a:avLst/>
          </a:prstGeom>
          <a:noFill/>
        </p:spPr>
        <p:txBody>
          <a:bodyPr wrap="square" lIns="0" tIns="0" rIns="0" bIns="0" anchor="t">
            <a:spAutoFit/>
          </a:bodyPr>
          <a:lstStyle/>
          <a:p>
            <a:pPr algn="r">
              <a:spcAft>
                <a:spcPts val="200"/>
              </a:spcAft>
            </a:pPr>
            <a:r>
              <a:rPr lang="en-US" sz="1000" dirty="0">
                <a:solidFill>
                  <a:srgbClr val="8C96A8"/>
                </a:solidFill>
                <a:latin typeface="Roboto"/>
              </a:rPr>
              <a:t>6</a:t>
            </a:r>
            <a:r>
              <a:rPr sz="1000" b="0" i="0" dirty="0">
                <a:solidFill>
                  <a:srgbClr val="8C96A8"/>
                </a:solidFill>
                <a:latin typeface="Roboto"/>
              </a:rPr>
              <a:t> / 10</a:t>
            </a:r>
          </a:p>
        </p:txBody>
      </p:sp>
      <p:pic>
        <p:nvPicPr>
          <p:cNvPr id="28" name="Picture 27">
            <a:extLst>
              <a:ext uri="{FF2B5EF4-FFF2-40B4-BE49-F238E27FC236}">
                <a16:creationId xmlns:a16="http://schemas.microsoft.com/office/drawing/2014/main" id="{53D797C9-18D1-CDAA-20D6-0F88E30E2759}"/>
              </a:ext>
            </a:extLst>
          </p:cNvPr>
          <p:cNvPicPr>
            <a:picLocks noChangeAspect="1"/>
          </p:cNvPicPr>
          <p:nvPr/>
        </p:nvPicPr>
        <p:blipFill>
          <a:blip r:embed="rId3"/>
          <a:stretch>
            <a:fillRect/>
          </a:stretch>
        </p:blipFill>
        <p:spPr>
          <a:xfrm>
            <a:off x="5852160" y="298230"/>
            <a:ext cx="5760720" cy="186287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640080"/>
          </a:xfrm>
          <a:prstGeom prst="rect">
            <a:avLst/>
          </a:prstGeom>
          <a:noFill/>
        </p:spPr>
        <p:txBody>
          <a:bodyPr wrap="square" lIns="0" tIns="0" rIns="0" bIns="0" anchor="t">
            <a:spAutoFit/>
          </a:bodyPr>
          <a:lstStyle/>
          <a:p>
            <a:pPr algn="l">
              <a:spcAft>
                <a:spcPts val="200"/>
              </a:spcAft>
            </a:pPr>
            <a:r>
              <a:rPr sz="3200" b="1" i="0">
                <a:solidFill>
                  <a:srgbClr val="1F2433"/>
                </a:solidFill>
                <a:latin typeface="Google Sans"/>
              </a:rPr>
              <a:t>Network Stress: Spatial Breaks First</a:t>
            </a:r>
          </a:p>
        </p:txBody>
      </p:sp>
      <p:sp>
        <p:nvSpPr>
          <p:cNvPr id="3" name="TextBox 2"/>
          <p:cNvSpPr txBox="1"/>
          <p:nvPr/>
        </p:nvSpPr>
        <p:spPr>
          <a:xfrm>
            <a:off x="548640" y="960120"/>
            <a:ext cx="10058400" cy="365760"/>
          </a:xfrm>
          <a:prstGeom prst="rect">
            <a:avLst/>
          </a:prstGeom>
          <a:noFill/>
        </p:spPr>
        <p:txBody>
          <a:bodyPr wrap="square" lIns="0" tIns="0" rIns="0" bIns="0" anchor="t">
            <a:spAutoFit/>
          </a:bodyPr>
          <a:lstStyle/>
          <a:p>
            <a:pPr algn="l">
              <a:spcAft>
                <a:spcPts val="200"/>
              </a:spcAft>
            </a:pPr>
            <a:r>
              <a:rPr sz="1300" b="0" i="1">
                <a:solidFill>
                  <a:srgbClr val="525B6E"/>
                </a:solidFill>
                <a:latin typeface="Roboto"/>
              </a:rPr>
              <a:t>HRTF binaural streams are roughly 2× more fragile than stereo</a:t>
            </a:r>
          </a:p>
        </p:txBody>
      </p:sp>
      <p:sp>
        <p:nvSpPr>
          <p:cNvPr id="4" name="Rounded Rectangle 3"/>
          <p:cNvSpPr/>
          <p:nvPr/>
        </p:nvSpPr>
        <p:spPr>
          <a:xfrm>
            <a:off x="548640" y="2925563"/>
            <a:ext cx="3611880" cy="1536192"/>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2925563"/>
            <a:ext cx="3611880" cy="164592"/>
          </a:xfrm>
          <a:prstGeom prst="roundRect">
            <a:avLst>
              <a:gd name="adj" fmla="val 50000"/>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9672" y="3327898"/>
            <a:ext cx="3291840" cy="677108"/>
          </a:xfrm>
          <a:prstGeom prst="rect">
            <a:avLst/>
          </a:prstGeom>
          <a:noFill/>
        </p:spPr>
        <p:txBody>
          <a:bodyPr wrap="square" lIns="0" tIns="0" rIns="0" bIns="0" anchor="t">
            <a:spAutoFit/>
          </a:bodyPr>
          <a:lstStyle/>
          <a:p>
            <a:pPr algn="ctr">
              <a:spcAft>
                <a:spcPts val="200"/>
              </a:spcAft>
            </a:pPr>
            <a:r>
              <a:rPr sz="4400" b="1" i="0" dirty="0">
                <a:solidFill>
                  <a:srgbClr val="1F2433"/>
                </a:solidFill>
                <a:latin typeface="Google Sans"/>
              </a:rPr>
              <a:t>&gt; 20 %</a:t>
            </a:r>
          </a:p>
        </p:txBody>
      </p:sp>
      <p:sp>
        <p:nvSpPr>
          <p:cNvPr id="7" name="TextBox 6"/>
          <p:cNvSpPr txBox="1"/>
          <p:nvPr/>
        </p:nvSpPr>
        <p:spPr>
          <a:xfrm>
            <a:off x="699672" y="3977123"/>
            <a:ext cx="3291840" cy="200055"/>
          </a:xfrm>
          <a:prstGeom prst="rect">
            <a:avLst/>
          </a:prstGeom>
          <a:noFill/>
        </p:spPr>
        <p:txBody>
          <a:bodyPr wrap="square" lIns="0" tIns="0" rIns="0" bIns="0" anchor="t">
            <a:spAutoFit/>
          </a:bodyPr>
          <a:lstStyle/>
          <a:p>
            <a:pPr algn="ctr">
              <a:spcAft>
                <a:spcPts val="200"/>
              </a:spcAft>
            </a:pPr>
            <a:r>
              <a:rPr sz="1300" b="0" i="0" dirty="0">
                <a:solidFill>
                  <a:srgbClr val="525B6E"/>
                </a:solidFill>
                <a:latin typeface="Roboto"/>
              </a:rPr>
              <a:t>Mono — packet loss tolerated</a:t>
            </a:r>
          </a:p>
        </p:txBody>
      </p:sp>
      <p:sp>
        <p:nvSpPr>
          <p:cNvPr id="8" name="Rounded Rectangle 7"/>
          <p:cNvSpPr/>
          <p:nvPr/>
        </p:nvSpPr>
        <p:spPr>
          <a:xfrm>
            <a:off x="4343400" y="2925563"/>
            <a:ext cx="3611880" cy="1536192"/>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43400" y="2925563"/>
            <a:ext cx="3611880" cy="164592"/>
          </a:xfrm>
          <a:prstGeom prst="roundRect">
            <a:avLst>
              <a:gd name="adj" fmla="val 50000"/>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94432" y="3327898"/>
            <a:ext cx="3291840" cy="677108"/>
          </a:xfrm>
          <a:prstGeom prst="rect">
            <a:avLst/>
          </a:prstGeom>
          <a:noFill/>
        </p:spPr>
        <p:txBody>
          <a:bodyPr wrap="square" lIns="0" tIns="0" rIns="0" bIns="0" anchor="t">
            <a:spAutoFit/>
          </a:bodyPr>
          <a:lstStyle/>
          <a:p>
            <a:pPr algn="ctr">
              <a:spcAft>
                <a:spcPts val="200"/>
              </a:spcAft>
            </a:pPr>
            <a:r>
              <a:rPr sz="4400" b="1" i="0">
                <a:solidFill>
                  <a:srgbClr val="1F2433"/>
                </a:solidFill>
                <a:latin typeface="Google Sans"/>
              </a:rPr>
              <a:t>≈ 15 %</a:t>
            </a:r>
          </a:p>
        </p:txBody>
      </p:sp>
      <p:sp>
        <p:nvSpPr>
          <p:cNvPr id="11" name="TextBox 10"/>
          <p:cNvSpPr txBox="1"/>
          <p:nvPr/>
        </p:nvSpPr>
        <p:spPr>
          <a:xfrm>
            <a:off x="4494432" y="3977123"/>
            <a:ext cx="3291840" cy="200055"/>
          </a:xfrm>
          <a:prstGeom prst="rect">
            <a:avLst/>
          </a:prstGeom>
          <a:noFill/>
        </p:spPr>
        <p:txBody>
          <a:bodyPr wrap="square" lIns="0" tIns="0" rIns="0" bIns="0" anchor="t">
            <a:spAutoFit/>
          </a:bodyPr>
          <a:lstStyle/>
          <a:p>
            <a:pPr algn="ctr">
              <a:spcAft>
                <a:spcPts val="200"/>
              </a:spcAft>
            </a:pPr>
            <a:r>
              <a:rPr sz="1300" b="0" i="0">
                <a:solidFill>
                  <a:srgbClr val="525B6E"/>
                </a:solidFill>
                <a:latin typeface="Roboto"/>
              </a:rPr>
              <a:t>Stereo — packet loss tolerated</a:t>
            </a:r>
          </a:p>
        </p:txBody>
      </p:sp>
      <p:sp>
        <p:nvSpPr>
          <p:cNvPr id="12" name="Rounded Rectangle 11"/>
          <p:cNvSpPr/>
          <p:nvPr/>
        </p:nvSpPr>
        <p:spPr>
          <a:xfrm>
            <a:off x="8138160" y="2925563"/>
            <a:ext cx="3611880" cy="1536192"/>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38160" y="2925563"/>
            <a:ext cx="3611880" cy="164592"/>
          </a:xfrm>
          <a:prstGeom prst="roundRect">
            <a:avLst>
              <a:gd name="adj" fmla="val 50000"/>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89192" y="3327898"/>
            <a:ext cx="3291840" cy="677108"/>
          </a:xfrm>
          <a:prstGeom prst="rect">
            <a:avLst/>
          </a:prstGeom>
          <a:noFill/>
        </p:spPr>
        <p:txBody>
          <a:bodyPr wrap="square" lIns="0" tIns="0" rIns="0" bIns="0" anchor="t">
            <a:spAutoFit/>
          </a:bodyPr>
          <a:lstStyle/>
          <a:p>
            <a:pPr algn="ctr">
              <a:spcAft>
                <a:spcPts val="200"/>
              </a:spcAft>
            </a:pPr>
            <a:r>
              <a:rPr sz="4400" b="1" i="0">
                <a:solidFill>
                  <a:srgbClr val="1F2433"/>
                </a:solidFill>
                <a:latin typeface="Google Sans"/>
              </a:rPr>
              <a:t>≈ 10 %</a:t>
            </a:r>
          </a:p>
        </p:txBody>
      </p:sp>
      <p:sp>
        <p:nvSpPr>
          <p:cNvPr id="15" name="TextBox 14"/>
          <p:cNvSpPr txBox="1"/>
          <p:nvPr/>
        </p:nvSpPr>
        <p:spPr>
          <a:xfrm>
            <a:off x="8289192" y="3977123"/>
            <a:ext cx="3291840" cy="200055"/>
          </a:xfrm>
          <a:prstGeom prst="rect">
            <a:avLst/>
          </a:prstGeom>
          <a:noFill/>
        </p:spPr>
        <p:txBody>
          <a:bodyPr wrap="square" lIns="0" tIns="0" rIns="0" bIns="0" anchor="t">
            <a:spAutoFit/>
          </a:bodyPr>
          <a:lstStyle/>
          <a:p>
            <a:pPr algn="ctr">
              <a:spcAft>
                <a:spcPts val="200"/>
              </a:spcAft>
            </a:pPr>
            <a:r>
              <a:rPr sz="1300" b="0" i="0">
                <a:solidFill>
                  <a:srgbClr val="525B6E"/>
                </a:solidFill>
                <a:latin typeface="Roboto"/>
              </a:rPr>
              <a:t>Spatial (HRTF) — breakdown</a:t>
            </a:r>
          </a:p>
        </p:txBody>
      </p:sp>
      <p:sp>
        <p:nvSpPr>
          <p:cNvPr id="16" name="Rounded Rectangle 15"/>
          <p:cNvSpPr/>
          <p:nvPr/>
        </p:nvSpPr>
        <p:spPr>
          <a:xfrm>
            <a:off x="548640" y="4590288"/>
            <a:ext cx="11064240" cy="1536192"/>
          </a:xfrm>
          <a:prstGeom prst="roundRect">
            <a:avLst>
              <a:gd name="adj" fmla="val 10000"/>
            </a:avLst>
          </a:prstGeom>
          <a:solidFill>
            <a:srgbClr val="EFF4FB"/>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48640" y="4590288"/>
            <a:ext cx="70000" cy="1536192"/>
          </a:xfrm>
          <a:prstGeom prst="roundRect">
            <a:avLst>
              <a:gd name="adj" fmla="val 45000"/>
            </a:avLst>
          </a:prstGeom>
          <a:solidFill>
            <a:srgbClr val="EA4335"/>
          </a:solidFill>
          <a:ln>
            <a:noFill/>
          </a:ln>
          <a:effectLst>
            <a:outerShdw blurRad="20000" dist="4000" dir="2700000" rotWithShape="0">
              <a:srgbClr val="EA4335">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916661"/>
            <a:ext cx="10058400" cy="307777"/>
          </a:xfrm>
          <a:prstGeom prst="rect">
            <a:avLst/>
          </a:prstGeom>
          <a:noFill/>
        </p:spPr>
        <p:txBody>
          <a:bodyPr wrap="square" lIns="0" tIns="0" rIns="0" bIns="0" anchor="t">
            <a:spAutoFit/>
          </a:bodyPr>
          <a:lstStyle/>
          <a:p>
            <a:pPr algn="l">
              <a:spcAft>
                <a:spcPts val="200"/>
              </a:spcAft>
            </a:pPr>
            <a:r>
              <a:rPr sz="2000" b="1" i="0" dirty="0">
                <a:solidFill>
                  <a:srgbClr val="EA4335"/>
                </a:solidFill>
                <a:latin typeface="Google Sans"/>
              </a:rPr>
              <a:t>Why?</a:t>
            </a:r>
          </a:p>
        </p:txBody>
      </p:sp>
      <p:sp>
        <p:nvSpPr>
          <p:cNvPr id="19" name="TextBox 18"/>
          <p:cNvSpPr txBox="1"/>
          <p:nvPr/>
        </p:nvSpPr>
        <p:spPr>
          <a:xfrm>
            <a:off x="914400" y="5300709"/>
            <a:ext cx="10515600" cy="1554480"/>
          </a:xfrm>
          <a:prstGeom prst="rect">
            <a:avLst/>
          </a:prstGeom>
          <a:noFill/>
        </p:spPr>
        <p:txBody>
          <a:bodyPr wrap="square" lIns="0" tIns="0" rIns="0" bIns="0" anchor="t">
            <a:spAutoFit/>
          </a:bodyPr>
          <a:lstStyle/>
          <a:p>
            <a:pPr algn="l">
              <a:spcAft>
                <a:spcPts val="200"/>
              </a:spcAft>
            </a:pPr>
            <a:r>
              <a:rPr sz="1700" b="0" i="0" dirty="0">
                <a:solidFill>
                  <a:srgbClr val="1F2433"/>
                </a:solidFill>
                <a:latin typeface="Google Sans"/>
              </a:rPr>
              <a:t>HRTF rendering relies on phase-coherent two-channel delivery.
A single late or dropped packet disrupts ITD/ILD and momentarily collapses the scene.</a:t>
            </a:r>
          </a:p>
        </p:txBody>
      </p:sp>
      <p:sp>
        <p:nvSpPr>
          <p:cNvPr id="20" name="TextBox 19"/>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22" name="TextBox 21">
            <a:extLst>
              <a:ext uri="{FF2B5EF4-FFF2-40B4-BE49-F238E27FC236}">
                <a16:creationId xmlns:a16="http://schemas.microsoft.com/office/drawing/2014/main" id="{DB82A4FF-5EE8-0696-89DA-82CD48119E74}"/>
              </a:ext>
            </a:extLst>
          </p:cNvPr>
          <p:cNvSpPr txBox="1"/>
          <p:nvPr/>
        </p:nvSpPr>
        <p:spPr>
          <a:xfrm>
            <a:off x="10561320" y="6620256"/>
            <a:ext cx="1554480" cy="153888"/>
          </a:xfrm>
          <a:prstGeom prst="rect">
            <a:avLst/>
          </a:prstGeom>
          <a:noFill/>
        </p:spPr>
        <p:txBody>
          <a:bodyPr wrap="square" lIns="0" tIns="0" rIns="0" bIns="0" anchor="t">
            <a:spAutoFit/>
          </a:bodyPr>
          <a:lstStyle/>
          <a:p>
            <a:pPr algn="r">
              <a:spcAft>
                <a:spcPts val="200"/>
              </a:spcAft>
            </a:pPr>
            <a:r>
              <a:rPr lang="en-US" sz="1000" dirty="0">
                <a:solidFill>
                  <a:srgbClr val="8C96A8"/>
                </a:solidFill>
                <a:latin typeface="Roboto"/>
              </a:rPr>
              <a:t>7</a:t>
            </a:r>
            <a:r>
              <a:rPr sz="1000" b="0" i="0" dirty="0">
                <a:solidFill>
                  <a:srgbClr val="8C96A8"/>
                </a:solidFill>
                <a:latin typeface="Roboto"/>
              </a:rPr>
              <a:t> / 10</a:t>
            </a:r>
          </a:p>
        </p:txBody>
      </p:sp>
      <p:pic>
        <p:nvPicPr>
          <p:cNvPr id="23" name="Picture 22">
            <a:extLst>
              <a:ext uri="{FF2B5EF4-FFF2-40B4-BE49-F238E27FC236}">
                <a16:creationId xmlns:a16="http://schemas.microsoft.com/office/drawing/2014/main" id="{00A3BBD0-B143-6E46-F328-1EC7846C733F}"/>
              </a:ext>
            </a:extLst>
          </p:cNvPr>
          <p:cNvPicPr>
            <a:picLocks noChangeAspect="1"/>
          </p:cNvPicPr>
          <p:nvPr/>
        </p:nvPicPr>
        <p:blipFill>
          <a:blip r:embed="rId3"/>
          <a:stretch>
            <a:fillRect/>
          </a:stretch>
        </p:blipFill>
        <p:spPr>
          <a:xfrm>
            <a:off x="5398119" y="1005840"/>
            <a:ext cx="6351921" cy="175653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EE3EB"/>
        </a:solidFill>
        <a:effectLst/>
      </p:bgPr>
    </p:bg>
    <p:spTree>
      <p:nvGrpSpPr>
        <p:cNvPr id="1" name=""/>
        <p:cNvGrpSpPr/>
        <p:nvPr/>
      </p:nvGrpSpPr>
      <p:grpSpPr>
        <a:xfrm>
          <a:off x="0" y="0"/>
          <a:ext cx="0" cy="0"/>
          <a:chOff x="0" y="0"/>
          <a:chExt cx="0" cy="0"/>
        </a:xfrm>
      </p:grpSpPr>
      <p:sp>
        <p:nvSpPr>
          <p:cNvPr id="2" name="Rounded Rectangle 1"/>
          <p:cNvSpPr/>
          <p:nvPr/>
        </p:nvSpPr>
        <p:spPr>
          <a:xfrm>
            <a:off x="640080" y="640080"/>
            <a:ext cx="10881360" cy="5577840"/>
          </a:xfrm>
          <a:prstGeom prst="roundRect">
            <a:avLst>
              <a:gd name="adj" fmla="val 10000"/>
            </a:avLst>
          </a:prstGeom>
          <a:solidFill>
            <a:srgbClr val="EEF1F6"/>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1097280"/>
            <a:ext cx="1185000" cy="380000"/>
          </a:xfrm>
          <a:prstGeom prst="roundRect">
            <a:avLst>
              <a:gd name="adj" fmla="val 50000"/>
            </a:avLst>
          </a:prstGeom>
          <a:solidFill>
            <a:srgbClr val="EA4335"/>
          </a:solidFill>
          <a:ln>
            <a:noFill/>
          </a:ln>
          <a:effectLst>
            <a:outerShdw blurRad="30000" dist="8000" dir="2700000" rotWithShape="0">
              <a:srgbClr val="EA4335">
                <a:alpha val="30000"/>
              </a:srgbClr>
            </a:outerShdw>
          </a:effectLst>
        </p:spPr>
        <p:style>
          <a:lnRef idx="1">
            <a:schemeClr val="accent1"/>
          </a:lnRef>
          <a:fillRef idx="3">
            <a:schemeClr val="accent1"/>
          </a:fillRef>
          <a:effectRef idx="2">
            <a:schemeClr val="accent1"/>
          </a:effectRef>
          <a:fontRef idx="minor">
            <a:schemeClr val="lt1"/>
          </a:fontRef>
        </p:style>
        <p:txBody>
          <a:bodyPr wrap="none" lIns="60000" tIns="20000" rIns="60000" bIns="20000" rtlCol="0" anchor="ctr"/>
          <a:lstStyle/>
          <a:p>
            <a:pPr algn="ctr"/>
            <a:r>
              <a:rPr sz="1400" b="1">
                <a:solidFill>
                  <a:srgbClr val="FFFFFF"/>
                </a:solidFill>
                <a:latin typeface="Google Sans"/>
              </a:rPr>
              <a:t>LIVE DEMO</a:t>
            </a:r>
          </a:p>
        </p:txBody>
      </p:sp>
      <p:sp>
        <p:nvSpPr>
          <p:cNvPr id="4" name="TextBox 3"/>
          <p:cNvSpPr txBox="1"/>
          <p:nvPr/>
        </p:nvSpPr>
        <p:spPr>
          <a:xfrm>
            <a:off x="1097280" y="1783080"/>
            <a:ext cx="10058400" cy="914400"/>
          </a:xfrm>
          <a:prstGeom prst="rect">
            <a:avLst/>
          </a:prstGeom>
          <a:noFill/>
        </p:spPr>
        <p:txBody>
          <a:bodyPr wrap="square" lIns="0" tIns="0" rIns="0" bIns="0" anchor="t">
            <a:spAutoFit/>
          </a:bodyPr>
          <a:lstStyle/>
          <a:p>
            <a:pPr algn="l">
              <a:spcAft>
                <a:spcPts val="200"/>
              </a:spcAft>
            </a:pPr>
            <a:r>
              <a:rPr sz="4400" b="1" i="0">
                <a:solidFill>
                  <a:srgbClr val="1F2433"/>
                </a:solidFill>
                <a:latin typeface="Google Sans"/>
              </a:rPr>
              <a:t>Spatial Audio Lab</a:t>
            </a:r>
          </a:p>
        </p:txBody>
      </p:sp>
      <p:sp>
        <p:nvSpPr>
          <p:cNvPr id="5" name="TextBox 4"/>
          <p:cNvSpPr txBox="1"/>
          <p:nvPr/>
        </p:nvSpPr>
        <p:spPr>
          <a:xfrm>
            <a:off x="1097280" y="2606040"/>
            <a:ext cx="10058400" cy="457200"/>
          </a:xfrm>
          <a:prstGeom prst="rect">
            <a:avLst/>
          </a:prstGeom>
          <a:noFill/>
        </p:spPr>
        <p:txBody>
          <a:bodyPr wrap="square" lIns="0" tIns="0" rIns="0" bIns="0" anchor="t">
            <a:spAutoFit/>
          </a:bodyPr>
          <a:lstStyle/>
          <a:p>
            <a:pPr algn="l">
              <a:spcAft>
                <a:spcPts val="200"/>
              </a:spcAft>
            </a:pPr>
            <a:r>
              <a:rPr sz="1400" b="0" i="1" dirty="0">
                <a:solidFill>
                  <a:srgbClr val="4285F4"/>
                </a:solidFill>
                <a:latin typeface="Roboto"/>
              </a:rPr>
              <a:t>vanowarna.com/spatial-audio-and-high-fidelity-streaming</a:t>
            </a:r>
          </a:p>
        </p:txBody>
      </p:sp>
      <p:sp>
        <p:nvSpPr>
          <p:cNvPr id="6" name="Rounded Rectangle 5"/>
          <p:cNvSpPr/>
          <p:nvPr/>
        </p:nvSpPr>
        <p:spPr>
          <a:xfrm>
            <a:off x="1097280" y="3291840"/>
            <a:ext cx="10058400" cy="77724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280160" y="3456432"/>
            <a:ext cx="457200" cy="457200"/>
          </a:xfrm>
          <a:prstGeom prst="ellipse">
            <a:avLst/>
          </a:prstGeom>
          <a:solidFill>
            <a:srgbClr val="4285F4"/>
          </a:solidFill>
          <a:ln>
            <a:noFill/>
          </a:ln>
          <a:effectLst>
            <a:outerShdw blurRad="25000" dist="6000" dir="2700000" rotWithShape="0">
              <a:srgbClr val="4285F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20240" y="3383280"/>
            <a:ext cx="4114800" cy="457200"/>
          </a:xfrm>
          <a:prstGeom prst="rect">
            <a:avLst/>
          </a:prstGeom>
          <a:noFill/>
        </p:spPr>
        <p:txBody>
          <a:bodyPr wrap="square" lIns="0" tIns="0" rIns="0" bIns="0" anchor="ctr">
            <a:spAutoFit/>
          </a:bodyPr>
          <a:lstStyle/>
          <a:p>
            <a:pPr algn="l">
              <a:spcAft>
                <a:spcPts val="200"/>
              </a:spcAft>
            </a:pPr>
            <a:r>
              <a:rPr sz="1400" b="1" i="0">
                <a:solidFill>
                  <a:srgbClr val="1F2433"/>
                </a:solidFill>
                <a:latin typeface="Google Sans"/>
              </a:rPr>
              <a:t>Drop a sound source</a:t>
            </a:r>
          </a:p>
        </p:txBody>
      </p:sp>
      <p:sp>
        <p:nvSpPr>
          <p:cNvPr id="9" name="TextBox 8"/>
          <p:cNvSpPr txBox="1"/>
          <p:nvPr/>
        </p:nvSpPr>
        <p:spPr>
          <a:xfrm>
            <a:off x="1920240" y="3675888"/>
            <a:ext cx="8046720" cy="411480"/>
          </a:xfrm>
          <a:prstGeom prst="rect">
            <a:avLst/>
          </a:prstGeom>
          <a:noFill/>
        </p:spPr>
        <p:txBody>
          <a:bodyPr wrap="square" lIns="0" tIns="0" rIns="0" bIns="0" anchor="t">
            <a:spAutoFit/>
          </a:bodyPr>
          <a:lstStyle/>
          <a:p>
            <a:pPr algn="l">
              <a:spcAft>
                <a:spcPts val="200"/>
              </a:spcAft>
            </a:pPr>
            <a:r>
              <a:rPr sz="1100" b="0" i="0">
                <a:solidFill>
                  <a:srgbClr val="525B6E"/>
                </a:solidFill>
                <a:latin typeface="Roboto"/>
              </a:rPr>
              <a:t>Drag the orb in 3D space — listener stays centred</a:t>
            </a:r>
          </a:p>
        </p:txBody>
      </p:sp>
      <p:sp>
        <p:nvSpPr>
          <p:cNvPr id="10" name="Rounded Rectangle 9"/>
          <p:cNvSpPr/>
          <p:nvPr/>
        </p:nvSpPr>
        <p:spPr>
          <a:xfrm>
            <a:off x="1097280" y="4206240"/>
            <a:ext cx="10058400" cy="77724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280160" y="4370832"/>
            <a:ext cx="457200" cy="457200"/>
          </a:xfrm>
          <a:prstGeom prst="ellipse">
            <a:avLst/>
          </a:prstGeom>
          <a:solidFill>
            <a:srgbClr val="34A853"/>
          </a:solidFill>
          <a:ln>
            <a:noFill/>
          </a:ln>
          <a:effectLst>
            <a:outerShdw blurRad="25000" dist="6000" dir="2700000" rotWithShape="0">
              <a:srgbClr val="34A853">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20240" y="4297680"/>
            <a:ext cx="4114800" cy="457200"/>
          </a:xfrm>
          <a:prstGeom prst="rect">
            <a:avLst/>
          </a:prstGeom>
          <a:noFill/>
        </p:spPr>
        <p:txBody>
          <a:bodyPr wrap="square" lIns="0" tIns="0" rIns="0" bIns="0" anchor="ctr">
            <a:spAutoFit/>
          </a:bodyPr>
          <a:lstStyle/>
          <a:p>
            <a:pPr algn="l">
              <a:spcAft>
                <a:spcPts val="200"/>
              </a:spcAft>
            </a:pPr>
            <a:r>
              <a:rPr sz="1400" b="1" i="0">
                <a:solidFill>
                  <a:srgbClr val="1F2433"/>
                </a:solidFill>
                <a:latin typeface="Google Sans"/>
              </a:rPr>
              <a:t>Switch codecs live</a:t>
            </a:r>
          </a:p>
        </p:txBody>
      </p:sp>
      <p:sp>
        <p:nvSpPr>
          <p:cNvPr id="13" name="TextBox 12"/>
          <p:cNvSpPr txBox="1"/>
          <p:nvPr/>
        </p:nvSpPr>
        <p:spPr>
          <a:xfrm>
            <a:off x="1920240" y="4590288"/>
            <a:ext cx="8046720" cy="411480"/>
          </a:xfrm>
          <a:prstGeom prst="rect">
            <a:avLst/>
          </a:prstGeom>
          <a:noFill/>
        </p:spPr>
        <p:txBody>
          <a:bodyPr wrap="square" lIns="0" tIns="0" rIns="0" bIns="0" anchor="t">
            <a:spAutoFit/>
          </a:bodyPr>
          <a:lstStyle/>
          <a:p>
            <a:pPr algn="l">
              <a:spcAft>
                <a:spcPts val="200"/>
              </a:spcAft>
            </a:pPr>
            <a:r>
              <a:rPr sz="1100" b="0" i="0">
                <a:solidFill>
                  <a:srgbClr val="525B6E"/>
                </a:solidFill>
                <a:latin typeface="Roboto"/>
              </a:rPr>
              <a:t>Original ↔ MP3 ↔ AAC ↔ Opus mid-playback</a:t>
            </a:r>
          </a:p>
        </p:txBody>
      </p:sp>
      <p:sp>
        <p:nvSpPr>
          <p:cNvPr id="14" name="Rounded Rectangle 13"/>
          <p:cNvSpPr/>
          <p:nvPr/>
        </p:nvSpPr>
        <p:spPr>
          <a:xfrm>
            <a:off x="1097280" y="5120640"/>
            <a:ext cx="10058400" cy="77724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280160" y="5285232"/>
            <a:ext cx="457200" cy="45720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20240" y="5212080"/>
            <a:ext cx="4114800" cy="457200"/>
          </a:xfrm>
          <a:prstGeom prst="rect">
            <a:avLst/>
          </a:prstGeom>
          <a:noFill/>
        </p:spPr>
        <p:txBody>
          <a:bodyPr wrap="square" lIns="0" tIns="0" rIns="0" bIns="0" anchor="ctr">
            <a:spAutoFit/>
          </a:bodyPr>
          <a:lstStyle/>
          <a:p>
            <a:pPr algn="l">
              <a:spcAft>
                <a:spcPts val="200"/>
              </a:spcAft>
            </a:pPr>
            <a:r>
              <a:rPr sz="1400" b="1" i="0">
                <a:solidFill>
                  <a:srgbClr val="1F2433"/>
                </a:solidFill>
                <a:latin typeface="Google Sans"/>
              </a:rPr>
              <a:t>Inject network stress</a:t>
            </a:r>
          </a:p>
        </p:txBody>
      </p:sp>
      <p:sp>
        <p:nvSpPr>
          <p:cNvPr id="17" name="TextBox 16"/>
          <p:cNvSpPr txBox="1"/>
          <p:nvPr/>
        </p:nvSpPr>
        <p:spPr>
          <a:xfrm>
            <a:off x="1920240" y="5504688"/>
            <a:ext cx="8046720" cy="411480"/>
          </a:xfrm>
          <a:prstGeom prst="rect">
            <a:avLst/>
          </a:prstGeom>
          <a:noFill/>
        </p:spPr>
        <p:txBody>
          <a:bodyPr wrap="square" lIns="0" tIns="0" rIns="0" bIns="0" anchor="t">
            <a:spAutoFit/>
          </a:bodyPr>
          <a:lstStyle/>
          <a:p>
            <a:pPr algn="l">
              <a:spcAft>
                <a:spcPts val="200"/>
              </a:spcAft>
            </a:pPr>
            <a:r>
              <a:rPr sz="1100" b="0" i="0">
                <a:solidFill>
                  <a:srgbClr val="525B6E"/>
                </a:solidFill>
                <a:latin typeface="Roboto"/>
              </a:rPr>
              <a:t>Loss &amp; jitter sliders — feel the spatial collapse</a:t>
            </a:r>
          </a:p>
        </p:txBody>
      </p:sp>
      <p:sp>
        <p:nvSpPr>
          <p:cNvPr id="18" name="TextBox 17"/>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20" name="TextBox 19">
            <a:extLst>
              <a:ext uri="{FF2B5EF4-FFF2-40B4-BE49-F238E27FC236}">
                <a16:creationId xmlns:a16="http://schemas.microsoft.com/office/drawing/2014/main" id="{9D7562BC-F36C-23A9-9C7A-DC138D5D9988}"/>
              </a:ext>
            </a:extLst>
          </p:cNvPr>
          <p:cNvSpPr txBox="1"/>
          <p:nvPr/>
        </p:nvSpPr>
        <p:spPr>
          <a:xfrm>
            <a:off x="10561320" y="6620256"/>
            <a:ext cx="1554480" cy="153888"/>
          </a:xfrm>
          <a:prstGeom prst="rect">
            <a:avLst/>
          </a:prstGeom>
          <a:noFill/>
        </p:spPr>
        <p:txBody>
          <a:bodyPr wrap="square" lIns="0" tIns="0" rIns="0" bIns="0" anchor="t">
            <a:spAutoFit/>
          </a:bodyPr>
          <a:lstStyle/>
          <a:p>
            <a:pPr algn="r">
              <a:spcAft>
                <a:spcPts val="200"/>
              </a:spcAft>
            </a:pPr>
            <a:r>
              <a:rPr lang="en-US" sz="1000" b="0" i="0" dirty="0">
                <a:solidFill>
                  <a:srgbClr val="8C96A8"/>
                </a:solidFill>
                <a:latin typeface="Roboto"/>
              </a:rPr>
              <a:t>8</a:t>
            </a:r>
            <a:r>
              <a:rPr sz="1000" b="0" i="0" dirty="0">
                <a:solidFill>
                  <a:srgbClr val="8C96A8"/>
                </a:solidFill>
                <a:latin typeface="Roboto"/>
              </a:rPr>
              <a:t> / 10</a:t>
            </a:r>
          </a:p>
        </p:txBody>
      </p:sp>
      <p:pic>
        <p:nvPicPr>
          <p:cNvPr id="19" name="Picture 18">
            <a:extLst>
              <a:ext uri="{FF2B5EF4-FFF2-40B4-BE49-F238E27FC236}">
                <a16:creationId xmlns:a16="http://schemas.microsoft.com/office/drawing/2014/main" id="{13BED0A4-3103-BEC9-2E5F-60CB3C5CACF4}"/>
              </a:ext>
            </a:extLst>
          </p:cNvPr>
          <p:cNvPicPr>
            <a:picLocks noChangeAspect="1"/>
          </p:cNvPicPr>
          <p:nvPr/>
        </p:nvPicPr>
        <p:blipFill>
          <a:blip r:embed="rId3"/>
          <a:stretch>
            <a:fillRect/>
          </a:stretch>
        </p:blipFill>
        <p:spPr>
          <a:xfrm>
            <a:off x="6720840" y="814395"/>
            <a:ext cx="4002607" cy="207510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EA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640080"/>
          </a:xfrm>
          <a:prstGeom prst="rect">
            <a:avLst/>
          </a:prstGeom>
          <a:noFill/>
        </p:spPr>
        <p:txBody>
          <a:bodyPr wrap="square" lIns="0" tIns="0" rIns="0" bIns="0" anchor="t">
            <a:spAutoFit/>
          </a:bodyPr>
          <a:lstStyle/>
          <a:p>
            <a:pPr algn="l">
              <a:spcAft>
                <a:spcPts val="200"/>
              </a:spcAft>
            </a:pPr>
            <a:r>
              <a:rPr sz="3200" b="1" i="0">
                <a:solidFill>
                  <a:srgbClr val="1F2433"/>
                </a:solidFill>
                <a:latin typeface="Google Sans"/>
              </a:rPr>
              <a:t>Conclusions</a:t>
            </a:r>
          </a:p>
        </p:txBody>
      </p:sp>
      <p:sp>
        <p:nvSpPr>
          <p:cNvPr id="3" name="TextBox 2"/>
          <p:cNvSpPr txBox="1"/>
          <p:nvPr/>
        </p:nvSpPr>
        <p:spPr>
          <a:xfrm>
            <a:off x="548640" y="960120"/>
            <a:ext cx="10058400" cy="365760"/>
          </a:xfrm>
          <a:prstGeom prst="rect">
            <a:avLst/>
          </a:prstGeom>
          <a:noFill/>
        </p:spPr>
        <p:txBody>
          <a:bodyPr wrap="square" lIns="0" tIns="0" rIns="0" bIns="0" anchor="t">
            <a:spAutoFit/>
          </a:bodyPr>
          <a:lstStyle/>
          <a:p>
            <a:pPr algn="l">
              <a:spcAft>
                <a:spcPts val="200"/>
              </a:spcAft>
            </a:pPr>
            <a:r>
              <a:rPr sz="1300" b="0" i="1">
                <a:solidFill>
                  <a:srgbClr val="525B6E"/>
                </a:solidFill>
                <a:latin typeface="Roboto"/>
              </a:rPr>
              <a:t>Pick Opus, ship spatial, design for fragility</a:t>
            </a:r>
          </a:p>
        </p:txBody>
      </p:sp>
      <p:sp>
        <p:nvSpPr>
          <p:cNvPr id="4" name="Rounded Rectangle 3"/>
          <p:cNvSpPr/>
          <p:nvPr/>
        </p:nvSpPr>
        <p:spPr>
          <a:xfrm>
            <a:off x="548640" y="1554480"/>
            <a:ext cx="5486400" cy="4572000"/>
          </a:xfrm>
          <a:prstGeom prst="roundRect">
            <a:avLst>
              <a:gd name="adj" fmla="val 10000"/>
            </a:avLst>
          </a:prstGeom>
          <a:solidFill>
            <a:schemeClr val="bg1"/>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91640"/>
            <a:ext cx="5029200" cy="457200"/>
          </a:xfrm>
          <a:prstGeom prst="rect">
            <a:avLst/>
          </a:prstGeom>
          <a:noFill/>
        </p:spPr>
        <p:txBody>
          <a:bodyPr wrap="square" lIns="0" tIns="0" rIns="0" bIns="0" anchor="t">
            <a:spAutoFit/>
          </a:bodyPr>
          <a:lstStyle/>
          <a:p>
            <a:pPr algn="l">
              <a:spcAft>
                <a:spcPts val="200"/>
              </a:spcAft>
            </a:pPr>
            <a:r>
              <a:rPr sz="1800" b="1" i="0">
                <a:solidFill>
                  <a:srgbClr val="4285F4"/>
                </a:solidFill>
                <a:latin typeface="Google Sans"/>
              </a:rPr>
              <a:t>What we found</a:t>
            </a:r>
          </a:p>
        </p:txBody>
      </p:sp>
      <p:sp>
        <p:nvSpPr>
          <p:cNvPr id="6" name="Oval 5"/>
          <p:cNvSpPr/>
          <p:nvPr/>
        </p:nvSpPr>
        <p:spPr>
          <a:xfrm>
            <a:off x="868680" y="2313432"/>
            <a:ext cx="365760" cy="365760"/>
          </a:xfrm>
          <a:prstGeom prst="ellipse">
            <a:avLst/>
          </a:prstGeom>
          <a:solidFill>
            <a:srgbClr val="4285F4"/>
          </a:solidFill>
          <a:ln>
            <a:noFill/>
          </a:ln>
          <a:effectLst>
            <a:outerShdw blurRad="25000" dist="6000" dir="2700000" rotWithShape="0">
              <a:srgbClr val="4285F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2240280"/>
            <a:ext cx="4389120" cy="411480"/>
          </a:xfrm>
          <a:prstGeom prst="rect">
            <a:avLst/>
          </a:prstGeom>
          <a:noFill/>
        </p:spPr>
        <p:txBody>
          <a:bodyPr wrap="square" lIns="0" tIns="0" rIns="0" bIns="0" anchor="t">
            <a:spAutoFit/>
          </a:bodyPr>
          <a:lstStyle/>
          <a:p>
            <a:pPr algn="l">
              <a:spcAft>
                <a:spcPts val="200"/>
              </a:spcAft>
            </a:pPr>
            <a:r>
              <a:rPr sz="1400" b="1" i="0">
                <a:solidFill>
                  <a:srgbClr val="1F2433"/>
                </a:solidFill>
                <a:latin typeface="Google Sans"/>
              </a:rPr>
              <a:t>Opus wins</a:t>
            </a:r>
          </a:p>
        </p:txBody>
      </p:sp>
      <p:sp>
        <p:nvSpPr>
          <p:cNvPr id="8" name="TextBox 7"/>
          <p:cNvSpPr txBox="1"/>
          <p:nvPr/>
        </p:nvSpPr>
        <p:spPr>
          <a:xfrm>
            <a:off x="1417320" y="2697480"/>
            <a:ext cx="4389120" cy="640080"/>
          </a:xfrm>
          <a:prstGeom prst="rect">
            <a:avLst/>
          </a:prstGeom>
          <a:noFill/>
        </p:spPr>
        <p:txBody>
          <a:bodyPr wrap="square" lIns="0" tIns="0" rIns="0" bIns="0" anchor="t">
            <a:spAutoFit/>
          </a:bodyPr>
          <a:lstStyle/>
          <a:p>
            <a:pPr algn="l">
              <a:spcAft>
                <a:spcPts val="200"/>
              </a:spcAft>
            </a:pPr>
            <a:r>
              <a:rPr sz="1200" b="0" i="0">
                <a:solidFill>
                  <a:srgbClr val="525B6E"/>
                </a:solidFill>
                <a:latin typeface="Roboto"/>
              </a:rPr>
              <a:t>Best quality / latency / bitrate balance</a:t>
            </a:r>
          </a:p>
        </p:txBody>
      </p:sp>
      <p:sp>
        <p:nvSpPr>
          <p:cNvPr id="9" name="Oval 8"/>
          <p:cNvSpPr/>
          <p:nvPr/>
        </p:nvSpPr>
        <p:spPr>
          <a:xfrm>
            <a:off x="868680" y="3593592"/>
            <a:ext cx="365760" cy="36576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7320" y="3520440"/>
            <a:ext cx="4389120" cy="411480"/>
          </a:xfrm>
          <a:prstGeom prst="rect">
            <a:avLst/>
          </a:prstGeom>
          <a:noFill/>
        </p:spPr>
        <p:txBody>
          <a:bodyPr wrap="square" lIns="0" tIns="0" rIns="0" bIns="0" anchor="t">
            <a:spAutoFit/>
          </a:bodyPr>
          <a:lstStyle/>
          <a:p>
            <a:pPr algn="l">
              <a:spcAft>
                <a:spcPts val="200"/>
              </a:spcAft>
            </a:pPr>
            <a:r>
              <a:rPr sz="1400" b="1" i="0">
                <a:solidFill>
                  <a:srgbClr val="1F2433"/>
                </a:solidFill>
                <a:latin typeface="Google Sans"/>
              </a:rPr>
              <a:t>Spatial fragility</a:t>
            </a:r>
          </a:p>
        </p:txBody>
      </p:sp>
      <p:sp>
        <p:nvSpPr>
          <p:cNvPr id="11" name="TextBox 10"/>
          <p:cNvSpPr txBox="1"/>
          <p:nvPr/>
        </p:nvSpPr>
        <p:spPr>
          <a:xfrm>
            <a:off x="1417320" y="3977640"/>
            <a:ext cx="4389120" cy="640080"/>
          </a:xfrm>
          <a:prstGeom prst="rect">
            <a:avLst/>
          </a:prstGeom>
          <a:noFill/>
        </p:spPr>
        <p:txBody>
          <a:bodyPr wrap="square" lIns="0" tIns="0" rIns="0" bIns="0" anchor="t">
            <a:spAutoFit/>
          </a:bodyPr>
          <a:lstStyle/>
          <a:p>
            <a:pPr algn="l">
              <a:spcAft>
                <a:spcPts val="200"/>
              </a:spcAft>
            </a:pPr>
            <a:r>
              <a:rPr sz="1200" b="0" i="0">
                <a:solidFill>
                  <a:srgbClr val="525B6E"/>
                </a:solidFill>
                <a:latin typeface="Roboto"/>
              </a:rPr>
              <a:t>HRTF breaks at ~10 % loss; stereo holds longer</a:t>
            </a:r>
          </a:p>
        </p:txBody>
      </p:sp>
      <p:sp>
        <p:nvSpPr>
          <p:cNvPr id="12" name="Oval 11"/>
          <p:cNvSpPr/>
          <p:nvPr/>
        </p:nvSpPr>
        <p:spPr>
          <a:xfrm>
            <a:off x="868680" y="4873752"/>
            <a:ext cx="365760" cy="365760"/>
          </a:xfrm>
          <a:prstGeom prst="ellipse">
            <a:avLst/>
          </a:prstGeom>
          <a:solidFill>
            <a:srgbClr val="34A853"/>
          </a:solidFill>
          <a:ln>
            <a:noFill/>
          </a:ln>
          <a:effectLst>
            <a:outerShdw blurRad="25000" dist="6000" dir="2700000" rotWithShape="0">
              <a:srgbClr val="34A853">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17320" y="4800600"/>
            <a:ext cx="4389120" cy="411480"/>
          </a:xfrm>
          <a:prstGeom prst="rect">
            <a:avLst/>
          </a:prstGeom>
          <a:noFill/>
        </p:spPr>
        <p:txBody>
          <a:bodyPr wrap="square" lIns="0" tIns="0" rIns="0" bIns="0" anchor="t">
            <a:spAutoFit/>
          </a:bodyPr>
          <a:lstStyle/>
          <a:p>
            <a:pPr algn="l">
              <a:spcAft>
                <a:spcPts val="200"/>
              </a:spcAft>
            </a:pPr>
            <a:r>
              <a:rPr sz="1400" b="1" i="0">
                <a:solidFill>
                  <a:srgbClr val="1F2433"/>
                </a:solidFill>
                <a:latin typeface="Google Sans"/>
              </a:rPr>
              <a:t>Bandwidth myth</a:t>
            </a:r>
          </a:p>
        </p:txBody>
      </p:sp>
      <p:sp>
        <p:nvSpPr>
          <p:cNvPr id="14" name="TextBox 13"/>
          <p:cNvSpPr txBox="1"/>
          <p:nvPr/>
        </p:nvSpPr>
        <p:spPr>
          <a:xfrm>
            <a:off x="1417320" y="5257800"/>
            <a:ext cx="4389120" cy="640080"/>
          </a:xfrm>
          <a:prstGeom prst="rect">
            <a:avLst/>
          </a:prstGeom>
          <a:noFill/>
        </p:spPr>
        <p:txBody>
          <a:bodyPr wrap="square" lIns="0" tIns="0" rIns="0" bIns="0" anchor="t">
            <a:spAutoFit/>
          </a:bodyPr>
          <a:lstStyle/>
          <a:p>
            <a:pPr algn="l">
              <a:spcAft>
                <a:spcPts val="200"/>
              </a:spcAft>
            </a:pPr>
            <a:r>
              <a:rPr sz="1200" b="0" i="0">
                <a:solidFill>
                  <a:srgbClr val="525B6E"/>
                </a:solidFill>
                <a:latin typeface="Roboto"/>
              </a:rPr>
              <a:t>5G has the bytes — jitter &amp; loss are the real risk</a:t>
            </a:r>
          </a:p>
        </p:txBody>
      </p:sp>
      <p:sp>
        <p:nvSpPr>
          <p:cNvPr id="15" name="Rounded Rectangle 14"/>
          <p:cNvSpPr/>
          <p:nvPr/>
        </p:nvSpPr>
        <p:spPr>
          <a:xfrm>
            <a:off x="6263640" y="1554480"/>
            <a:ext cx="5349240" cy="4572000"/>
          </a:xfrm>
          <a:prstGeom prst="roundRect">
            <a:avLst>
              <a:gd name="adj" fmla="val 10000"/>
            </a:avLst>
          </a:prstGeom>
          <a:solidFill>
            <a:srgbClr val="F4F0EF"/>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63640" y="1920240"/>
            <a:ext cx="91440" cy="3797935"/>
          </a:xfrm>
          <a:prstGeom prst="roundRect">
            <a:avLst>
              <a:gd name="adj" fmla="val 45000"/>
            </a:avLst>
          </a:prstGeom>
          <a:solidFill>
            <a:srgbClr val="EA4335"/>
          </a:solidFill>
          <a:ln>
            <a:noFill/>
          </a:ln>
          <a:effectLst>
            <a:outerShdw blurRad="20000" dist="4000" dir="2700000" rotWithShape="0">
              <a:srgbClr val="EA4335">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1691640"/>
            <a:ext cx="5029200" cy="457200"/>
          </a:xfrm>
          <a:prstGeom prst="rect">
            <a:avLst/>
          </a:prstGeom>
          <a:noFill/>
        </p:spPr>
        <p:txBody>
          <a:bodyPr wrap="square" lIns="0" tIns="0" rIns="0" bIns="0" anchor="t">
            <a:spAutoFit/>
          </a:bodyPr>
          <a:lstStyle/>
          <a:p>
            <a:pPr algn="l">
              <a:spcAft>
                <a:spcPts val="200"/>
              </a:spcAft>
            </a:pPr>
            <a:r>
              <a:rPr sz="1800" b="1" i="0">
                <a:solidFill>
                  <a:srgbClr val="EA4335"/>
                </a:solidFill>
                <a:latin typeface="Google Sans"/>
              </a:rPr>
              <a:t>Where this goes next</a:t>
            </a:r>
          </a:p>
        </p:txBody>
      </p:sp>
      <p:sp>
        <p:nvSpPr>
          <p:cNvPr id="18" name="Oval 17"/>
          <p:cNvSpPr/>
          <p:nvPr/>
        </p:nvSpPr>
        <p:spPr>
          <a:xfrm>
            <a:off x="6583680" y="2354580"/>
            <a:ext cx="228600" cy="22860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240280"/>
            <a:ext cx="45720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MPEG-H 3D Object-Based Audio</a:t>
            </a:r>
          </a:p>
        </p:txBody>
      </p:sp>
      <p:sp>
        <p:nvSpPr>
          <p:cNvPr id="20" name="Oval 19"/>
          <p:cNvSpPr/>
          <p:nvPr/>
        </p:nvSpPr>
        <p:spPr>
          <a:xfrm>
            <a:off x="6583680" y="3040380"/>
            <a:ext cx="228600" cy="22860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0" y="2926080"/>
            <a:ext cx="45720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Personalised HRTFs (CNN-based)</a:t>
            </a:r>
          </a:p>
        </p:txBody>
      </p:sp>
      <p:sp>
        <p:nvSpPr>
          <p:cNvPr id="22" name="Oval 21"/>
          <p:cNvSpPr/>
          <p:nvPr/>
        </p:nvSpPr>
        <p:spPr>
          <a:xfrm>
            <a:off x="6583680" y="3703320"/>
            <a:ext cx="228600" cy="22860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49440" y="3611880"/>
            <a:ext cx="45720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Opus multistream for ambisonics</a:t>
            </a:r>
          </a:p>
        </p:txBody>
      </p:sp>
      <p:sp>
        <p:nvSpPr>
          <p:cNvPr id="24" name="Oval 23"/>
          <p:cNvSpPr/>
          <p:nvPr/>
        </p:nvSpPr>
        <p:spPr>
          <a:xfrm>
            <a:off x="6583680" y="4411980"/>
            <a:ext cx="228600" cy="22860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0" y="4297680"/>
            <a:ext cx="45720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Neural codecs (EnCodec / SoundStream)</a:t>
            </a:r>
          </a:p>
        </p:txBody>
      </p:sp>
      <p:sp>
        <p:nvSpPr>
          <p:cNvPr id="26" name="Oval 25"/>
          <p:cNvSpPr/>
          <p:nvPr/>
        </p:nvSpPr>
        <p:spPr>
          <a:xfrm>
            <a:off x="6583680" y="5097780"/>
            <a:ext cx="228600" cy="22860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49440" y="4983480"/>
            <a:ext cx="4572000" cy="457200"/>
          </a:xfrm>
          <a:prstGeom prst="rect">
            <a:avLst/>
          </a:prstGeom>
          <a:noFill/>
        </p:spPr>
        <p:txBody>
          <a:bodyPr wrap="square" lIns="0" tIns="0" rIns="0" bIns="0" anchor="ctr">
            <a:spAutoFit/>
          </a:bodyPr>
          <a:lstStyle/>
          <a:p>
            <a:pPr algn="l">
              <a:spcAft>
                <a:spcPts val="200"/>
              </a:spcAft>
            </a:pPr>
            <a:r>
              <a:rPr sz="1400" b="0" i="0">
                <a:solidFill>
                  <a:srgbClr val="1F2433"/>
                </a:solidFill>
                <a:latin typeface="Roboto"/>
              </a:rPr>
              <a:t>WebRTC pipeline on real 4G/5G traces</a:t>
            </a:r>
          </a:p>
        </p:txBody>
      </p:sp>
      <p:sp>
        <p:nvSpPr>
          <p:cNvPr id="28" name="TextBox 27"/>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30" name="TextBox 29">
            <a:extLst>
              <a:ext uri="{FF2B5EF4-FFF2-40B4-BE49-F238E27FC236}">
                <a16:creationId xmlns:a16="http://schemas.microsoft.com/office/drawing/2014/main" id="{6151CB2B-DCBE-A13F-35DD-5FF2DBBAA177}"/>
              </a:ext>
            </a:extLst>
          </p:cNvPr>
          <p:cNvSpPr txBox="1"/>
          <p:nvPr/>
        </p:nvSpPr>
        <p:spPr>
          <a:xfrm>
            <a:off x="10561320" y="6620256"/>
            <a:ext cx="1554480" cy="153888"/>
          </a:xfrm>
          <a:prstGeom prst="rect">
            <a:avLst/>
          </a:prstGeom>
          <a:noFill/>
        </p:spPr>
        <p:txBody>
          <a:bodyPr wrap="square" lIns="0" tIns="0" rIns="0" bIns="0" anchor="t">
            <a:spAutoFit/>
          </a:bodyPr>
          <a:lstStyle/>
          <a:p>
            <a:pPr algn="r">
              <a:spcAft>
                <a:spcPts val="200"/>
              </a:spcAft>
            </a:pPr>
            <a:r>
              <a:rPr lang="en-US" sz="1000" dirty="0">
                <a:solidFill>
                  <a:srgbClr val="8C96A8"/>
                </a:solidFill>
                <a:latin typeface="Roboto"/>
              </a:rPr>
              <a:t>9</a:t>
            </a:r>
            <a:r>
              <a:rPr sz="1000" b="0" i="0" dirty="0">
                <a:solidFill>
                  <a:srgbClr val="8C96A8"/>
                </a:solidFill>
                <a:latin typeface="Roboto"/>
              </a:rPr>
              <a:t>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EE3EB"/>
        </a:solidFill>
        <a:effectLst/>
      </p:bgPr>
    </p:bg>
    <p:spTree>
      <p:nvGrpSpPr>
        <p:cNvPr id="1" name=""/>
        <p:cNvGrpSpPr/>
        <p:nvPr/>
      </p:nvGrpSpPr>
      <p:grpSpPr>
        <a:xfrm>
          <a:off x="0" y="0"/>
          <a:ext cx="0" cy="0"/>
          <a:chOff x="0" y="0"/>
          <a:chExt cx="0" cy="0"/>
        </a:xfrm>
      </p:grpSpPr>
      <p:sp>
        <p:nvSpPr>
          <p:cNvPr id="2" name="Rounded Rectangle 1"/>
          <p:cNvSpPr/>
          <p:nvPr/>
        </p:nvSpPr>
        <p:spPr>
          <a:xfrm>
            <a:off x="1371600" y="1371600"/>
            <a:ext cx="9418320" cy="4206240"/>
          </a:xfrm>
          <a:prstGeom prst="roundRect">
            <a:avLst>
              <a:gd name="adj" fmla="val 10000"/>
            </a:avLst>
          </a:prstGeom>
          <a:solidFill>
            <a:srgbClr val="EEF1F6"/>
          </a:solidFill>
          <a:ln>
            <a:noFill/>
          </a:ln>
          <a:effectLst>
            <a:outerShdw blurRad="80000" dist="18000" dir="2700000" rotWithShape="0">
              <a:srgbClr val="BCC4D0">
                <a:alpha val="4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0" y="2674204"/>
            <a:ext cx="9144000" cy="997528"/>
          </a:xfrm>
          <a:prstGeom prst="rect">
            <a:avLst/>
          </a:prstGeom>
          <a:noFill/>
        </p:spPr>
        <p:txBody>
          <a:bodyPr wrap="square" lIns="0" tIns="0" rIns="0" bIns="0" anchor="t">
            <a:spAutoFit/>
          </a:bodyPr>
          <a:lstStyle/>
          <a:p>
            <a:pPr algn="ctr">
              <a:spcAft>
                <a:spcPts val="200"/>
              </a:spcAft>
            </a:pPr>
            <a:r>
              <a:rPr sz="6400" b="1" i="0" dirty="0">
                <a:solidFill>
                  <a:srgbClr val="1F2433"/>
                </a:solidFill>
                <a:latin typeface="Google Sans"/>
              </a:rPr>
              <a:t>Thank you</a:t>
            </a:r>
          </a:p>
        </p:txBody>
      </p:sp>
      <p:sp>
        <p:nvSpPr>
          <p:cNvPr id="5" name="Oval 4"/>
          <p:cNvSpPr/>
          <p:nvPr/>
        </p:nvSpPr>
        <p:spPr>
          <a:xfrm>
            <a:off x="5212080" y="3749040"/>
            <a:ext cx="365760" cy="365760"/>
          </a:xfrm>
          <a:prstGeom prst="ellipse">
            <a:avLst/>
          </a:prstGeom>
          <a:solidFill>
            <a:srgbClr val="4285F4"/>
          </a:solidFill>
          <a:ln>
            <a:noFill/>
          </a:ln>
          <a:effectLst>
            <a:outerShdw blurRad="25000" dist="6000" dir="2700000" rotWithShape="0">
              <a:srgbClr val="4285F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669280" y="3749040"/>
            <a:ext cx="365760" cy="365760"/>
          </a:xfrm>
          <a:prstGeom prst="ellipse">
            <a:avLst/>
          </a:prstGeom>
          <a:solidFill>
            <a:srgbClr val="EA4335"/>
          </a:solidFill>
          <a:ln>
            <a:noFill/>
          </a:ln>
          <a:effectLst>
            <a:outerShdw blurRad="25000" dist="6000" dir="2700000" rotWithShape="0">
              <a:srgbClr val="EA4335">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26480" y="3749040"/>
            <a:ext cx="365760" cy="365760"/>
          </a:xfrm>
          <a:prstGeom prst="ellipse">
            <a:avLst/>
          </a:prstGeom>
          <a:solidFill>
            <a:srgbClr val="FBBC04"/>
          </a:solidFill>
          <a:ln>
            <a:noFill/>
          </a:ln>
          <a:effectLst>
            <a:outerShdw blurRad="25000" dist="6000" dir="2700000" rotWithShape="0">
              <a:srgbClr val="FBBC0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583680" y="3749040"/>
            <a:ext cx="365760" cy="365760"/>
          </a:xfrm>
          <a:prstGeom prst="ellipse">
            <a:avLst/>
          </a:prstGeom>
          <a:solidFill>
            <a:srgbClr val="34A853"/>
          </a:solidFill>
          <a:ln>
            <a:noFill/>
          </a:ln>
          <a:effectLst>
            <a:outerShdw blurRad="25000" dist="6000" dir="2700000" rotWithShape="0">
              <a:srgbClr val="34A853">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4791456"/>
            <a:ext cx="9144000" cy="215444"/>
          </a:xfrm>
          <a:prstGeom prst="rect">
            <a:avLst/>
          </a:prstGeom>
          <a:noFill/>
        </p:spPr>
        <p:txBody>
          <a:bodyPr wrap="square" lIns="0" tIns="0" rIns="0" bIns="0" anchor="t">
            <a:spAutoFit/>
          </a:bodyPr>
          <a:lstStyle/>
          <a:p>
            <a:pPr algn="ctr">
              <a:spcAft>
                <a:spcPts val="200"/>
              </a:spcAft>
            </a:pPr>
            <a:r>
              <a:rPr lang="en-US" sz="1400" b="0" i="1" dirty="0">
                <a:solidFill>
                  <a:srgbClr val="4285F4"/>
                </a:solidFill>
                <a:latin typeface="Roboto"/>
              </a:rPr>
              <a:t>https://vanowarna.com/spatial-audio-and-high-fidelity-streaming/</a:t>
            </a:r>
            <a:endParaRPr sz="1400" b="0" i="1" dirty="0">
              <a:solidFill>
                <a:srgbClr val="4285F4"/>
              </a:solidFill>
              <a:latin typeface="Roboto"/>
            </a:endParaRPr>
          </a:p>
        </p:txBody>
      </p:sp>
      <p:sp>
        <p:nvSpPr>
          <p:cNvPr id="10" name="TextBox 9"/>
          <p:cNvSpPr txBox="1"/>
          <p:nvPr/>
        </p:nvSpPr>
        <p:spPr>
          <a:xfrm>
            <a:off x="457200" y="6446520"/>
            <a:ext cx="7315200" cy="274320"/>
          </a:xfrm>
          <a:prstGeom prst="rect">
            <a:avLst/>
          </a:prstGeom>
          <a:noFill/>
        </p:spPr>
        <p:txBody>
          <a:bodyPr wrap="square" lIns="0" tIns="0" rIns="0" bIns="0" anchor="t">
            <a:spAutoFit/>
          </a:bodyPr>
          <a:lstStyle/>
          <a:p>
            <a:pPr algn="l">
              <a:spcAft>
                <a:spcPts val="200"/>
              </a:spcAft>
            </a:pPr>
            <a:r>
              <a:rPr sz="1000" b="0" i="0">
                <a:solidFill>
                  <a:srgbClr val="8C96A8"/>
                </a:solidFill>
                <a:latin typeface="Roboto"/>
              </a:rPr>
              <a:t>Spatial Audio &amp; High-Fidelity Streaming</a:t>
            </a:r>
          </a:p>
        </p:txBody>
      </p:sp>
      <p:sp>
        <p:nvSpPr>
          <p:cNvPr id="12" name="TextBox 11">
            <a:extLst>
              <a:ext uri="{FF2B5EF4-FFF2-40B4-BE49-F238E27FC236}">
                <a16:creationId xmlns:a16="http://schemas.microsoft.com/office/drawing/2014/main" id="{43919835-4E13-BDB7-D742-0FB954A501C3}"/>
              </a:ext>
            </a:extLst>
          </p:cNvPr>
          <p:cNvSpPr txBox="1"/>
          <p:nvPr/>
        </p:nvSpPr>
        <p:spPr>
          <a:xfrm>
            <a:off x="10561320" y="6620256"/>
            <a:ext cx="1554480" cy="153888"/>
          </a:xfrm>
          <a:prstGeom prst="rect">
            <a:avLst/>
          </a:prstGeom>
          <a:noFill/>
        </p:spPr>
        <p:txBody>
          <a:bodyPr wrap="square" lIns="0" tIns="0" rIns="0" bIns="0" anchor="t">
            <a:spAutoFit/>
          </a:bodyPr>
          <a:lstStyle/>
          <a:p>
            <a:pPr algn="r">
              <a:spcAft>
                <a:spcPts val="200"/>
              </a:spcAft>
            </a:pPr>
            <a:r>
              <a:rPr lang="en-US" sz="1000" dirty="0">
                <a:solidFill>
                  <a:srgbClr val="8C96A8"/>
                </a:solidFill>
                <a:latin typeface="Roboto"/>
              </a:rPr>
              <a:t>10</a:t>
            </a:r>
            <a:r>
              <a:rPr sz="1000" b="0" i="0" dirty="0">
                <a:solidFill>
                  <a:srgbClr val="8C96A8"/>
                </a:solidFill>
                <a:latin typeface="Roboto"/>
              </a:rPr>
              <a:t>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1455</Words>
  <Application>Microsoft Office PowerPoint</Application>
  <PresentationFormat>Widescreen</PresentationFormat>
  <Paragraphs>138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Google Sans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Vanodhya Warnasooriya</cp:lastModifiedBy>
  <cp:revision>7</cp:revision>
  <dcterms:created xsi:type="dcterms:W3CDTF">2013-01-27T09:14:16Z</dcterms:created>
  <dcterms:modified xsi:type="dcterms:W3CDTF">2026-05-07T11:03:38Z</dcterms:modified>
  <cp:category/>
</cp:coreProperties>
</file>